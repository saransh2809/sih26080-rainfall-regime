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RegimeCast is a post-processing layer. It detects the monsoon regime from the forecast itself, corrects rainfall with the regime as input, issues calibrated heavy-rain probabilities, and maps them to 641 districts.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Real data in, verified products out. The engine never sees observations at inference time; held-out years were scored once with the model files hashed.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Everything on this slide already runs on a laptop. The main external dependency is NCMRWF's NCUM archive, which plugs into the existing adapter.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Headline numbers are from data never used for training or model choice: test years 2018-2019 and 610 real NOAA operational forecasts (JJAS 2021-2025) run through live mode, scored once. The Mumbai maps are a validation-year case.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Findings are reported with confidence intervals, including where regime-awareness did not help.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RegimeCast: AI post-processing that corrects NWP rainfall forecasts according to the monsoon regime.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slide" Target="slide1.xml"/><Relationship Id="rId16" Type="http://schemas.openxmlformats.org/officeDocument/2006/relationships/slide" Target="slide2.xml"/><Relationship Id="rId17" Type="http://schemas.openxmlformats.org/officeDocument/2006/relationships/slide" Target="slide3.xml"/><Relationship Id="rId18" Type="http://schemas.openxmlformats.org/officeDocument/2006/relationships/slide" Target="slide4.xml"/><Relationship Id="rId19" Type="http://schemas.openxmlformats.org/officeDocument/2006/relationships/slide" Target="slide5.xml"/><Relationship Id="rId20" Type="http://schemas.openxmlformats.org/officeDocument/2006/relationships/slide" Target="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28.png"/><Relationship Id="rId19" Type="http://schemas.openxmlformats.org/officeDocument/2006/relationships/image" Target="../media/image29.png"/><Relationship Id="rId20" Type="http://schemas.openxmlformats.org/officeDocument/2006/relationships/image" Target="../media/image7.png"/><Relationship Id="rId21" Type="http://schemas.openxmlformats.org/officeDocument/2006/relationships/image" Target="../media/image9.png"/><Relationship Id="rId22" Type="http://schemas.openxmlformats.org/officeDocument/2006/relationships/image" Target="../media/image10.png"/><Relationship Id="rId23" Type="http://schemas.openxmlformats.org/officeDocument/2006/relationships/image" Target="../media/image11.png"/><Relationship Id="rId24" Type="http://schemas.openxmlformats.org/officeDocument/2006/relationships/image" Target="../media/image12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slide" Target="slide1.xml"/><Relationship Id="rId29" Type="http://schemas.openxmlformats.org/officeDocument/2006/relationships/slide" Target="slide2.xml"/><Relationship Id="rId30" Type="http://schemas.openxmlformats.org/officeDocument/2006/relationships/slide" Target="slide3.xml"/><Relationship Id="rId31" Type="http://schemas.openxmlformats.org/officeDocument/2006/relationships/slide" Target="slide4.xml"/><Relationship Id="rId32" Type="http://schemas.openxmlformats.org/officeDocument/2006/relationships/slide" Target="slide5.xml"/><Relationship Id="rId33" Type="http://schemas.openxmlformats.org/officeDocument/2006/relationships/slide" Target="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slide" Target="slide1.xml"/><Relationship Id="rId11" Type="http://schemas.openxmlformats.org/officeDocument/2006/relationships/slide" Target="slide2.xml"/><Relationship Id="rId12" Type="http://schemas.openxmlformats.org/officeDocument/2006/relationships/slide" Target="slide3.xml"/><Relationship Id="rId13" Type="http://schemas.openxmlformats.org/officeDocument/2006/relationships/slide" Target="slide4.xml"/><Relationship Id="rId14" Type="http://schemas.openxmlformats.org/officeDocument/2006/relationships/slide" Target="slide5.xml"/><Relationship Id="rId15" Type="http://schemas.openxmlformats.org/officeDocument/2006/relationships/slide" Target="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29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Relationship Id="rId16" Type="http://schemas.openxmlformats.org/officeDocument/2006/relationships/image" Target="../media/image49.png"/><Relationship Id="rId17" Type="http://schemas.openxmlformats.org/officeDocument/2006/relationships/image" Target="../media/image50.png"/><Relationship Id="rId18" Type="http://schemas.openxmlformats.org/officeDocument/2006/relationships/image" Target="../media/image51.png"/><Relationship Id="rId19" Type="http://schemas.openxmlformats.org/officeDocument/2006/relationships/slide" Target="slide1.xml"/><Relationship Id="rId20" Type="http://schemas.openxmlformats.org/officeDocument/2006/relationships/slide" Target="slide2.xml"/><Relationship Id="rId21" Type="http://schemas.openxmlformats.org/officeDocument/2006/relationships/slide" Target="slide3.xml"/><Relationship Id="rId22" Type="http://schemas.openxmlformats.org/officeDocument/2006/relationships/slide" Target="slide4.xml"/><Relationship Id="rId23" Type="http://schemas.openxmlformats.org/officeDocument/2006/relationships/slide" Target="slide5.xml"/><Relationship Id="rId2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5.png"/><Relationship Id="rId6" Type="http://schemas.openxmlformats.org/officeDocument/2006/relationships/image" Target="../media/image47.png"/><Relationship Id="rId7" Type="http://schemas.openxmlformats.org/officeDocument/2006/relationships/image" Target="../media/image11.png"/><Relationship Id="rId8" Type="http://schemas.openxmlformats.org/officeDocument/2006/relationships/image" Target="../media/image52.png"/><Relationship Id="rId9" Type="http://schemas.openxmlformats.org/officeDocument/2006/relationships/hyperlink" Target="https://doi.org/10.1007/s12040-010-0019-4" TargetMode="External"/><Relationship Id="rId10" Type="http://schemas.openxmlformats.org/officeDocument/2006/relationships/hyperlink" Target="https://www.imdpune.gov.in/cmpg/Griddata/ref_paper_MAUSAM.pdf" TargetMode="External"/><Relationship Id="rId11" Type="http://schemas.openxmlformats.org/officeDocument/2006/relationships/hyperlink" Target="https://registry.opendata.aws/noaa-gefs-reforecast/" TargetMode="External"/><Relationship Id="rId12" Type="http://schemas.openxmlformats.org/officeDocument/2006/relationships/hyperlink" Target="https://doi.org/10.1175/2007MWR2123.1" TargetMode="External"/><Relationship Id="rId13" Type="http://schemas.openxmlformats.org/officeDocument/2006/relationships/hyperlink" Target="https://rsmcnewdelhi.imd.gov.in/" TargetMode="External"/><Relationship Id="rId14" Type="http://schemas.openxmlformats.org/officeDocument/2006/relationships/hyperlink" Target="https://zenodo.org/records/22151110" TargetMode="External"/><Relationship Id="rId15" Type="http://schemas.openxmlformats.org/officeDocument/2006/relationships/hyperlink" Target="https://projects.datameet.org/maps/districts/" TargetMode="External"/><Relationship Id="rId16" Type="http://schemas.openxmlformats.org/officeDocument/2006/relationships/image" Target="../media/image38.png"/><Relationship Id="rId17" Type="http://schemas.openxmlformats.org/officeDocument/2006/relationships/slide" Target="slide1.xml"/><Relationship Id="rId18" Type="http://schemas.openxmlformats.org/officeDocument/2006/relationships/slide" Target="slide2.xml"/><Relationship Id="rId19" Type="http://schemas.openxmlformats.org/officeDocument/2006/relationships/slide" Target="slide3.xml"/><Relationship Id="rId20" Type="http://schemas.openxmlformats.org/officeDocument/2006/relationships/slide" Target="slide4.xml"/><Relationship Id="rId21" Type="http://schemas.openxmlformats.org/officeDocument/2006/relationships/slide" Target="slide5.xml"/><Relationship Id="rId22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RegimeCast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E2761"/>
                </a:solidFill>
                <a:latin typeface="Arial"/>
              </a:rPr>
              <a:t>Problem Statement ID – 26080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E2761"/>
                </a:solidFill>
                <a:latin typeface="Arial"/>
              </a:rPr>
              <a:t>Problem Statement Title – Regime-Aware AI Post-Processing of Monsoon Rainfall Forecasts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E2761"/>
                </a:solidFill>
                <a:latin typeface="Arial"/>
              </a:rPr>
              <a:t>Theme –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1E2761"/>
                </a:solidFill>
                <a:latin typeface="Arial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1480" y="2103120"/>
            <a:ext cx="585216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1">
                <a:solidFill>
                  <a:srgbClr val="1F6FD1"/>
                </a:solidFill>
                <a:latin typeface="Calibri"/>
              </a:rPr>
              <a:t>Regime-aware AI post-processing of monsoon rainfall forecasts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RegimeCast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SIH 2026 · PS 26080 · RegimeCast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737360" y="1069848"/>
            <a:ext cx="7955279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200" b="0" i="1">
                <a:solidFill>
                  <a:srgbClr val="1E2761"/>
                </a:solidFill>
                <a:latin typeface="Calibri"/>
              </a:rPr>
              <a:t>Regime-aware AI post-processing that corrects NWP rainfall forecasts — it never replaces the weather model</a:t>
            </a:r>
          </a:p>
        </p:txBody>
      </p:sp>
      <p:sp>
        <p:nvSpPr>
          <p:cNvPr id="15363" name="Oval 15362"/>
          <p:cNvSpPr/>
          <p:nvPr/>
        </p:nvSpPr>
        <p:spPr>
          <a:xfrm>
            <a:off x="320040" y="1380744"/>
            <a:ext cx="274320" cy="274320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4" name="Picture 15363" descr="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" y="1441094"/>
            <a:ext cx="153619" cy="153619"/>
          </a:xfrm>
          <a:prstGeom prst="rect">
            <a:avLst/>
          </a:prstGeom>
        </p:spPr>
      </p:pic>
      <p:sp>
        <p:nvSpPr>
          <p:cNvPr id="15365" name="TextBox 15364"/>
          <p:cNvSpPr txBox="1"/>
          <p:nvPr/>
        </p:nvSpPr>
        <p:spPr>
          <a:xfrm>
            <a:off x="658368" y="1371600"/>
            <a:ext cx="569671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6FD1"/>
                </a:solidFill>
                <a:latin typeface="Calibri"/>
              </a:rPr>
              <a:t>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320040" y="1737360"/>
            <a:ext cx="6035040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1">
                <a:solidFill>
                  <a:srgbClr val="1E2761"/>
                </a:solidFill>
                <a:latin typeface="Calibri"/>
              </a:rPr>
              <a:t>“The same forecast — corrected for the monsoon it is actually in.”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320040" y="2103120"/>
            <a:ext cx="6035040" cy="25146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500"/>
              </a:spcAft>
              <a:buClr>
                <a:srgbClr val="1F6FD1"/>
              </a:buClr>
              <a:buFont typeface="Arial"/>
              <a:buChar char="●"/>
            </a:pPr>
            <a:r>
              <a:rPr sz="1250" b="1" i="0">
                <a:solidFill>
                  <a:srgbClr val="1F6FD1"/>
                </a:solidFill>
                <a:latin typeface="Calibri"/>
              </a:rPr>
              <a:t>Regime Detection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: reads the forecast’s own </a:t>
            </a:r>
            <a:r>
              <a:rPr sz="1250" b="1" i="0">
                <a:solidFill>
                  <a:srgbClr val="1F2937"/>
                </a:solidFill>
                <a:latin typeface="Calibri"/>
              </a:rPr>
              <a:t>850 hPa wind, pressure &amp; moisture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 → Active / Break / Depression / Normal, plus orographic &amp; coastal zones</a:t>
            </a:r>
          </a:p>
          <a:p>
            <a:pPr algn="l" marL="155448" indent="-155448">
              <a:spcAft>
                <a:spcPts val="500"/>
              </a:spcAft>
              <a:buClr>
                <a:srgbClr val="1F6FD1"/>
              </a:buClr>
              <a:buFont typeface="Arial"/>
              <a:buChar char="●"/>
            </a:pPr>
            <a:r>
              <a:rPr sz="1250" b="1" i="0">
                <a:solidFill>
                  <a:srgbClr val="1F6FD1"/>
                </a:solidFill>
                <a:latin typeface="Calibri"/>
              </a:rPr>
              <a:t>Regime-Aware Correction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: removes the NWP model’s bias with the </a:t>
            </a:r>
            <a:r>
              <a:rPr sz="1250" b="1" i="0">
                <a:solidFill>
                  <a:srgbClr val="1F2937"/>
                </a:solidFill>
                <a:latin typeface="Calibri"/>
              </a:rPr>
              <a:t>regime as an input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 (LightGBM + quantile mapping)</a:t>
            </a:r>
          </a:p>
          <a:p>
            <a:pPr algn="l" marL="155448" indent="-155448">
              <a:spcAft>
                <a:spcPts val="500"/>
              </a:spcAft>
              <a:buClr>
                <a:srgbClr val="1F6FD1"/>
              </a:buClr>
              <a:buFont typeface="Arial"/>
              <a:buChar char="●"/>
            </a:pPr>
            <a:r>
              <a:rPr sz="1250" b="1" i="0">
                <a:solidFill>
                  <a:srgbClr val="D95926"/>
                </a:solidFill>
                <a:latin typeface="Calibri"/>
              </a:rPr>
              <a:t>Heavy-Rain Probability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: </a:t>
            </a:r>
            <a:r>
              <a:rPr sz="1250" b="1" i="0">
                <a:solidFill>
                  <a:srgbClr val="1F2937"/>
                </a:solidFill>
                <a:latin typeface="Calibri"/>
              </a:rPr>
              <a:t>calibrated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 chance of ≥64.5 mm and ≥115.6 mm — IMD’s own warning thresholds</a:t>
            </a:r>
          </a:p>
          <a:p>
            <a:pPr algn="l" marL="155448" indent="-155448">
              <a:spcAft>
                <a:spcPts val="500"/>
              </a:spcAft>
              <a:buClr>
                <a:srgbClr val="1F6FD1"/>
              </a:buClr>
              <a:buFont typeface="Arial"/>
              <a:buChar char="●"/>
            </a:pPr>
            <a:r>
              <a:rPr sz="1250" b="1" i="0">
                <a:solidFill>
                  <a:srgbClr val="1F6FD1"/>
                </a:solidFill>
                <a:latin typeface="Calibri"/>
              </a:rPr>
              <a:t>District Product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: area-weighted onto </a:t>
            </a:r>
            <a:r>
              <a:rPr sz="1250" b="1" i="0">
                <a:solidFill>
                  <a:srgbClr val="1F2937"/>
                </a:solidFill>
                <a:latin typeface="Calibri"/>
              </a:rPr>
              <a:t>all 641 districts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 (Survey of India based boundaries)</a:t>
            </a:r>
          </a:p>
          <a:p>
            <a:pPr algn="l" marL="155448" indent="-155448">
              <a:spcAft>
                <a:spcPts val="500"/>
              </a:spcAft>
              <a:buClr>
                <a:srgbClr val="1F6FD1"/>
              </a:buClr>
              <a:buFont typeface="Arial"/>
              <a:buChar char="●"/>
            </a:pPr>
            <a:r>
              <a:rPr sz="1250" b="1" i="0">
                <a:solidFill>
                  <a:srgbClr val="148A5B"/>
                </a:solidFill>
                <a:latin typeface="Calibri"/>
              </a:rPr>
              <a:t>Verified, not claimed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: RMSE · ETS · CSI · POD · FAR · FSS with </a:t>
            </a:r>
            <a:r>
              <a:rPr sz="1250" b="1" i="0">
                <a:solidFill>
                  <a:srgbClr val="1F2937"/>
                </a:solidFill>
                <a:latin typeface="Calibri"/>
              </a:rPr>
              <a:t>significance tests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 on every improvement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20040" y="4315968"/>
            <a:ext cx="603504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Why it is different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320040" y="4663440"/>
            <a:ext cx="1938528" cy="1572768"/>
          </a:xfrm>
          <a:prstGeom prst="roundRect">
            <a:avLst>
              <a:gd name="adj" fmla="val 4651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Oval 15369"/>
          <p:cNvSpPr/>
          <p:nvPr/>
        </p:nvSpPr>
        <p:spPr>
          <a:xfrm>
            <a:off x="411479" y="4773168"/>
            <a:ext cx="420624" cy="420624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1" name="Picture 15370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17" y="4865705"/>
            <a:ext cx="235549" cy="235549"/>
          </a:xfrm>
          <a:prstGeom prst="rect">
            <a:avLst/>
          </a:prstGeom>
        </p:spPr>
      </p:pic>
      <p:sp>
        <p:nvSpPr>
          <p:cNvPr id="15372" name="TextBox 15371"/>
          <p:cNvSpPr txBox="1"/>
          <p:nvPr/>
        </p:nvSpPr>
        <p:spPr>
          <a:xfrm>
            <a:off x="886968" y="4773168"/>
            <a:ext cx="1335024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F6FD1"/>
                </a:solidFill>
                <a:latin typeface="Calibri"/>
              </a:rPr>
              <a:t>Regime as probability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429768" y="5303520"/>
            <a:ext cx="1755648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Calibri"/>
              </a:rPr>
              <a:t>The corrector sees the classifier’s uncertainty, not a hard guess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2368296" y="4663440"/>
            <a:ext cx="1938528" cy="1572768"/>
          </a:xfrm>
          <a:prstGeom prst="roundRect">
            <a:avLst>
              <a:gd name="adj" fmla="val 4651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Oval 15374"/>
          <p:cNvSpPr/>
          <p:nvPr/>
        </p:nvSpPr>
        <p:spPr>
          <a:xfrm>
            <a:off x="2459736" y="4773168"/>
            <a:ext cx="420624" cy="420624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6" name="Picture 15375" descr="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2273" y="4865705"/>
            <a:ext cx="235549" cy="235549"/>
          </a:xfrm>
          <a:prstGeom prst="rect">
            <a:avLst/>
          </a:prstGeom>
        </p:spPr>
      </p:pic>
      <p:sp>
        <p:nvSpPr>
          <p:cNvPr id="15377" name="TextBox 15376"/>
          <p:cNvSpPr txBox="1"/>
          <p:nvPr/>
        </p:nvSpPr>
        <p:spPr>
          <a:xfrm>
            <a:off x="2935224" y="4773168"/>
            <a:ext cx="1335024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48A5B"/>
                </a:solidFill>
                <a:latin typeface="Calibri"/>
              </a:rPr>
              <a:t>Honest by design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2478024" y="5303520"/>
            <a:ext cx="1755648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Calibri"/>
              </a:rPr>
              <a:t>Block-bootstrap tests; reports where regimes do NOT help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4416552" y="4663440"/>
            <a:ext cx="1938528" cy="1572768"/>
          </a:xfrm>
          <a:prstGeom prst="roundRect">
            <a:avLst>
              <a:gd name="adj" fmla="val 4651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Oval 15379"/>
          <p:cNvSpPr/>
          <p:nvPr/>
        </p:nvSpPr>
        <p:spPr>
          <a:xfrm>
            <a:off x="4507992" y="4773168"/>
            <a:ext cx="420624" cy="420624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1" name="Picture 15380" descr="magnif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0529" y="4865705"/>
            <a:ext cx="235549" cy="235549"/>
          </a:xfrm>
          <a:prstGeom prst="rect">
            <a:avLst/>
          </a:prstGeom>
        </p:spPr>
      </p:pic>
      <p:sp>
        <p:nvSpPr>
          <p:cNvPr id="15382" name="TextBox 15381"/>
          <p:cNvSpPr txBox="1"/>
          <p:nvPr/>
        </p:nvSpPr>
        <p:spPr>
          <a:xfrm>
            <a:off x="4983480" y="4773168"/>
            <a:ext cx="1335024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D95926"/>
                </a:solidFill>
                <a:latin typeface="Calibri"/>
              </a:rPr>
              <a:t>Explainable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4526280" y="5303520"/>
            <a:ext cx="1755648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Calibri"/>
              </a:rPr>
              <a:t>Every forecast ships its own SHAP feature contributions</a:t>
            </a:r>
          </a:p>
        </p:txBody>
      </p:sp>
      <p:sp>
        <p:nvSpPr>
          <p:cNvPr id="15384" name="Oval 15383"/>
          <p:cNvSpPr/>
          <p:nvPr/>
        </p:nvSpPr>
        <p:spPr>
          <a:xfrm>
            <a:off x="6675120" y="1380744"/>
            <a:ext cx="274320" cy="274320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5" name="Picture 15384" descr="gea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5470" y="1441094"/>
            <a:ext cx="153619" cy="153619"/>
          </a:xfrm>
          <a:prstGeom prst="rect">
            <a:avLst/>
          </a:prstGeom>
        </p:spPr>
      </p:pic>
      <p:sp>
        <p:nvSpPr>
          <p:cNvPr id="15386" name="TextBox 15385"/>
          <p:cNvSpPr txBox="1"/>
          <p:nvPr/>
        </p:nvSpPr>
        <p:spPr>
          <a:xfrm>
            <a:off x="7013448" y="1371600"/>
            <a:ext cx="478231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6FD1"/>
                </a:solidFill>
                <a:latin typeface="Calibri"/>
              </a:rPr>
              <a:t>How it works</a:t>
            </a:r>
          </a:p>
        </p:txBody>
      </p:sp>
      <p:sp>
        <p:nvSpPr>
          <p:cNvPr id="15387" name="Oval 15386"/>
          <p:cNvSpPr/>
          <p:nvPr/>
        </p:nvSpPr>
        <p:spPr>
          <a:xfrm>
            <a:off x="6885431" y="1810512"/>
            <a:ext cx="603504" cy="603504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8" name="Picture 15387" descr="cloud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8202" y="1943282"/>
            <a:ext cx="337962" cy="337962"/>
          </a:xfrm>
          <a:prstGeom prst="rect">
            <a:avLst/>
          </a:prstGeom>
        </p:spPr>
      </p:pic>
      <p:sp>
        <p:nvSpPr>
          <p:cNvPr id="15389" name="TextBox 15388"/>
          <p:cNvSpPr txBox="1"/>
          <p:nvPr/>
        </p:nvSpPr>
        <p:spPr>
          <a:xfrm>
            <a:off x="6675120" y="2450592"/>
            <a:ext cx="1024127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NWP forecast</a:t>
            </a:r>
          </a:p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(GEFS / NCUM)</a:t>
            </a:r>
          </a:p>
        </p:txBody>
      </p:sp>
      <p:cxnSp>
        <p:nvCxnSpPr>
          <p:cNvPr id="15390" name="Connector 15389"/>
          <p:cNvCxnSpPr/>
          <p:nvPr/>
        </p:nvCxnSpPr>
        <p:spPr>
          <a:xfrm>
            <a:off x="7534656" y="2112264"/>
            <a:ext cx="329183" cy="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1" name="Oval 15390"/>
          <p:cNvSpPr/>
          <p:nvPr/>
        </p:nvSpPr>
        <p:spPr>
          <a:xfrm>
            <a:off x="7909560" y="1810512"/>
            <a:ext cx="603504" cy="60350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92" name="Picture 15391" descr="b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2330" y="1943282"/>
            <a:ext cx="337962" cy="337962"/>
          </a:xfrm>
          <a:prstGeom prst="rect">
            <a:avLst/>
          </a:prstGeom>
        </p:spPr>
      </p:pic>
      <p:sp>
        <p:nvSpPr>
          <p:cNvPr id="15393" name="TextBox 15392"/>
          <p:cNvSpPr txBox="1"/>
          <p:nvPr/>
        </p:nvSpPr>
        <p:spPr>
          <a:xfrm>
            <a:off x="7699248" y="2450592"/>
            <a:ext cx="1024127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Regime</a:t>
            </a:r>
          </a:p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classifier</a:t>
            </a:r>
          </a:p>
        </p:txBody>
      </p:sp>
      <p:cxnSp>
        <p:nvCxnSpPr>
          <p:cNvPr id="15394" name="Connector 15393"/>
          <p:cNvCxnSpPr/>
          <p:nvPr/>
        </p:nvCxnSpPr>
        <p:spPr>
          <a:xfrm>
            <a:off x="8558784" y="2112264"/>
            <a:ext cx="329183" cy="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5" name="Oval 15394"/>
          <p:cNvSpPr/>
          <p:nvPr/>
        </p:nvSpPr>
        <p:spPr>
          <a:xfrm>
            <a:off x="8933688" y="1810512"/>
            <a:ext cx="603504" cy="60350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96" name="Picture 15395" descr="slid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66458" y="1943282"/>
            <a:ext cx="337962" cy="337962"/>
          </a:xfrm>
          <a:prstGeom prst="rect">
            <a:avLst/>
          </a:prstGeom>
        </p:spPr>
      </p:pic>
      <p:sp>
        <p:nvSpPr>
          <p:cNvPr id="15397" name="TextBox 15396"/>
          <p:cNvSpPr txBox="1"/>
          <p:nvPr/>
        </p:nvSpPr>
        <p:spPr>
          <a:xfrm>
            <a:off x="8723376" y="2450592"/>
            <a:ext cx="1024127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Regime-aware</a:t>
            </a:r>
          </a:p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correction</a:t>
            </a:r>
          </a:p>
        </p:txBody>
      </p:sp>
      <p:cxnSp>
        <p:nvCxnSpPr>
          <p:cNvPr id="15398" name="Connector 15397"/>
          <p:cNvCxnSpPr/>
          <p:nvPr/>
        </p:nvCxnSpPr>
        <p:spPr>
          <a:xfrm>
            <a:off x="9582912" y="2112264"/>
            <a:ext cx="329183" cy="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9" name="Oval 15398"/>
          <p:cNvSpPr/>
          <p:nvPr/>
        </p:nvSpPr>
        <p:spPr>
          <a:xfrm>
            <a:off x="9957816" y="1810512"/>
            <a:ext cx="603504" cy="603504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00" name="Picture 15399" descr="heavyrai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0586" y="1943282"/>
            <a:ext cx="337962" cy="337962"/>
          </a:xfrm>
          <a:prstGeom prst="rect">
            <a:avLst/>
          </a:prstGeom>
        </p:spPr>
      </p:pic>
      <p:sp>
        <p:nvSpPr>
          <p:cNvPr id="15401" name="TextBox 15400"/>
          <p:cNvSpPr txBox="1"/>
          <p:nvPr/>
        </p:nvSpPr>
        <p:spPr>
          <a:xfrm>
            <a:off x="9747504" y="2450592"/>
            <a:ext cx="1024127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Heavy-rain</a:t>
            </a:r>
          </a:p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probability</a:t>
            </a:r>
          </a:p>
        </p:txBody>
      </p:sp>
      <p:cxnSp>
        <p:nvCxnSpPr>
          <p:cNvPr id="15402" name="Connector 15401"/>
          <p:cNvCxnSpPr/>
          <p:nvPr/>
        </p:nvCxnSpPr>
        <p:spPr>
          <a:xfrm>
            <a:off x="10607040" y="2112264"/>
            <a:ext cx="329184" cy="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3" name="Oval 15402"/>
          <p:cNvSpPr/>
          <p:nvPr/>
        </p:nvSpPr>
        <p:spPr>
          <a:xfrm>
            <a:off x="10981944" y="1810512"/>
            <a:ext cx="603504" cy="603504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04" name="Picture 15403" descr="mapdo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14714" y="1943282"/>
            <a:ext cx="337962" cy="337962"/>
          </a:xfrm>
          <a:prstGeom prst="rect">
            <a:avLst/>
          </a:prstGeom>
        </p:spPr>
      </p:pic>
      <p:sp>
        <p:nvSpPr>
          <p:cNvPr id="15405" name="TextBox 15404"/>
          <p:cNvSpPr txBox="1"/>
          <p:nvPr/>
        </p:nvSpPr>
        <p:spPr>
          <a:xfrm>
            <a:off x="10771632" y="2450592"/>
            <a:ext cx="1024127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District</a:t>
            </a:r>
          </a:p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warnings</a:t>
            </a:r>
          </a:p>
        </p:txBody>
      </p:sp>
      <p:pic>
        <p:nvPicPr>
          <p:cNvPr id="15406" name="Picture 15405" descr="full_dashboar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67728" y="2999232"/>
            <a:ext cx="4319974" cy="2999232"/>
          </a:xfrm>
          <a:prstGeom prst="rect">
            <a:avLst/>
          </a:prstGeom>
          <a:ln w="12700">
            <a:solidFill>
              <a:srgbClr val="5B6475"/>
            </a:solidFill>
          </a:ln>
        </p:spPr>
      </p:pic>
      <p:sp>
        <p:nvSpPr>
          <p:cNvPr id="15407" name="TextBox 15406"/>
          <p:cNvSpPr txBox="1"/>
          <p:nvPr/>
        </p:nvSpPr>
        <p:spPr>
          <a:xfrm>
            <a:off x="6675120" y="6016752"/>
            <a:ext cx="5120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950" b="0" i="1">
                <a:solidFill>
                  <a:srgbClr val="5B6475"/>
                </a:solidFill>
                <a:latin typeface="Calibri"/>
              </a:rPr>
              <a:t>Working prototype · real archived data · Mumbai deluge, 30-Aug-2017 (validation year)</a:t>
            </a:r>
          </a:p>
        </p:txBody>
      </p:sp>
      <p:sp>
        <p:nvSpPr>
          <p:cNvPr id="15408" name="TextBox 15407">
            <a:hlinkClick action="ppaction://hlinksldjump" r:id="rId15"/>
          </p:cNvPr>
          <p:cNvSpPr txBox="1"/>
          <p:nvPr/>
        </p:nvSpPr>
        <p:spPr>
          <a:xfrm>
            <a:off x="228600" y="6400800"/>
            <a:ext cx="516636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15409" name="TextBox 15408">
            <a:hlinkClick action="ppaction://hlinksldjump" r:id="rId16"/>
          </p:cNvPr>
          <p:cNvSpPr txBox="1"/>
          <p:nvPr/>
        </p:nvSpPr>
        <p:spPr>
          <a:xfrm>
            <a:off x="800100" y="6400800"/>
            <a:ext cx="438912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1" u="sng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5410" name="TextBox 15409">
            <a:hlinkClick action="ppaction://hlinksldjump" r:id="rId17"/>
          </p:cNvPr>
          <p:cNvSpPr txBox="1"/>
          <p:nvPr/>
        </p:nvSpPr>
        <p:spPr>
          <a:xfrm>
            <a:off x="1293876" y="6400800"/>
            <a:ext cx="438912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Tech</a:t>
            </a:r>
          </a:p>
        </p:txBody>
      </p:sp>
      <p:sp>
        <p:nvSpPr>
          <p:cNvPr id="15411" name="TextBox 15410">
            <a:hlinkClick action="ppaction://hlinksldjump" r:id="rId18"/>
          </p:cNvPr>
          <p:cNvSpPr txBox="1"/>
          <p:nvPr/>
        </p:nvSpPr>
        <p:spPr>
          <a:xfrm>
            <a:off x="1787652" y="6400800"/>
            <a:ext cx="982980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5412" name="TextBox 15411">
            <a:hlinkClick action="ppaction://hlinksldjump" r:id="rId19"/>
          </p:cNvPr>
          <p:cNvSpPr txBox="1"/>
          <p:nvPr/>
        </p:nvSpPr>
        <p:spPr>
          <a:xfrm>
            <a:off x="2825496" y="6400800"/>
            <a:ext cx="594360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5413" name="TextBox 15412">
            <a:hlinkClick action="ppaction://hlinksldjump" r:id="rId20"/>
          </p:cNvPr>
          <p:cNvSpPr txBox="1"/>
          <p:nvPr/>
        </p:nvSpPr>
        <p:spPr>
          <a:xfrm>
            <a:off x="3474720" y="6400800"/>
            <a:ext cx="749808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SIH 2026 · PS 26080 · RegimeCast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737360" y="932688"/>
            <a:ext cx="7955279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300" b="0" i="1">
                <a:solidFill>
                  <a:srgbClr val="1E2761"/>
                </a:solidFill>
                <a:latin typeface="Calibri"/>
              </a:rPr>
              <a:t>Technology stack &amp; system architecture — built and running end-to-end on real data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320040" y="1335024"/>
            <a:ext cx="274320" cy="274320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" y="1395374"/>
            <a:ext cx="153619" cy="153619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658368" y="1325880"/>
            <a:ext cx="3867911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6FD1"/>
                </a:solidFill>
                <a:latin typeface="Calibri"/>
              </a:rPr>
              <a:t>Technology Stack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/>
        </p:nvGraphicFramePr>
        <p:xfrm>
          <a:off x="320040" y="1691640"/>
          <a:ext cx="4206240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10896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Calibri"/>
                        </a:rPr>
                        <a:t>Data &amp; geo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xarray · NetCDF / GRIB (ecCodes) · GeoPandas · Shapely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Calibri"/>
                        </a:rPr>
                        <a:t>ML / AI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LightGBM · PyTorch U-Net corrector · CNN classifier (tested)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Calibri"/>
                        </a:rPr>
                        <a:t>Regimes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Rajeevan (2010) active/break · IMD best-track · terrain forced ascent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Calibri"/>
                        </a:rPr>
                        <a:t>Verification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RMSE · ETS · CSI · POD · FAR · FSS · Brier · bootstrap CIs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Python 3.12 · FastAPI · Pydantic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React · TypeScript · Leaflet (fully offline maps)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179 automated tests (pytest + Vitest)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Calibri"/>
                        </a:rPr>
                        <a:t>Open data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NOAA GEFSv12 (AWS) · IMD 0.25° rainfall · IMD best-track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pic>
        <p:nvPicPr>
          <p:cNvPr id="17415" name="Picture 17414" descr="logo_pyth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5330952"/>
            <a:ext cx="301752" cy="301752"/>
          </a:xfrm>
          <a:prstGeom prst="rect">
            <a:avLst/>
          </a:prstGeom>
        </p:spPr>
      </p:pic>
      <p:pic>
        <p:nvPicPr>
          <p:cNvPr id="17416" name="Picture 17415" descr="logo_fast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7" y="5330952"/>
            <a:ext cx="301752" cy="301752"/>
          </a:xfrm>
          <a:prstGeom prst="rect">
            <a:avLst/>
          </a:prstGeom>
        </p:spPr>
      </p:pic>
      <p:pic>
        <p:nvPicPr>
          <p:cNvPr id="17417" name="Picture 17416" descr="logo_re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424" y="5330952"/>
            <a:ext cx="301752" cy="301752"/>
          </a:xfrm>
          <a:prstGeom prst="rect">
            <a:avLst/>
          </a:prstGeom>
        </p:spPr>
      </p:pic>
      <p:pic>
        <p:nvPicPr>
          <p:cNvPr id="17418" name="Picture 17417" descr="logo_typescrip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900" y="5330952"/>
            <a:ext cx="301752" cy="301752"/>
          </a:xfrm>
          <a:prstGeom prst="rect">
            <a:avLst/>
          </a:prstGeom>
        </p:spPr>
      </p:pic>
      <p:pic>
        <p:nvPicPr>
          <p:cNvPr id="17419" name="Picture 17418" descr="logo_leafl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5376" y="5330952"/>
            <a:ext cx="301752" cy="301752"/>
          </a:xfrm>
          <a:prstGeom prst="rect">
            <a:avLst/>
          </a:prstGeom>
        </p:spPr>
      </p:pic>
      <p:pic>
        <p:nvPicPr>
          <p:cNvPr id="17420" name="Picture 17419" descr="logo_sklear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4851" y="5330952"/>
            <a:ext cx="301752" cy="301752"/>
          </a:xfrm>
          <a:prstGeom prst="rect">
            <a:avLst/>
          </a:prstGeom>
        </p:spPr>
      </p:pic>
      <p:pic>
        <p:nvPicPr>
          <p:cNvPr id="17421" name="Picture 17420" descr="logo_pytorc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4327" y="5330952"/>
            <a:ext cx="301752" cy="301752"/>
          </a:xfrm>
          <a:prstGeom prst="rect">
            <a:avLst/>
          </a:prstGeom>
        </p:spPr>
      </p:pic>
      <p:pic>
        <p:nvPicPr>
          <p:cNvPr id="17422" name="Picture 17421" descr="logo_panda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03803" y="5330952"/>
            <a:ext cx="301752" cy="301752"/>
          </a:xfrm>
          <a:prstGeom prst="rect">
            <a:avLst/>
          </a:prstGeom>
        </p:spPr>
      </p:pic>
      <p:pic>
        <p:nvPicPr>
          <p:cNvPr id="17423" name="Picture 17422" descr="logo_nump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83279" y="5330952"/>
            <a:ext cx="301752" cy="301752"/>
          </a:xfrm>
          <a:prstGeom prst="rect">
            <a:avLst/>
          </a:prstGeom>
        </p:spPr>
      </p:pic>
      <p:pic>
        <p:nvPicPr>
          <p:cNvPr id="17424" name="Picture 17423" descr="logo_pytes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62756" y="5330952"/>
            <a:ext cx="301752" cy="301752"/>
          </a:xfrm>
          <a:prstGeom prst="rect">
            <a:avLst/>
          </a:prstGeom>
        </p:spPr>
      </p:pic>
      <p:pic>
        <p:nvPicPr>
          <p:cNvPr id="17425" name="Picture 17424" descr="logo_v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42231" y="5330952"/>
            <a:ext cx="301752" cy="301752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320040" y="5715000"/>
            <a:ext cx="420624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48A5B"/>
                </a:solidFill>
                <a:latin typeface="Calibri"/>
              </a:rPr>
              <a:t>✓</a:t>
            </a:r>
            <a:r>
              <a:rPr sz="1000" b="0" i="0">
                <a:solidFill>
                  <a:srgbClr val="1F2937"/>
                </a:solidFill>
                <a:latin typeface="Calibri"/>
              </a:rPr>
              <a:t> Observations never used as model inputs   </a:t>
            </a:r>
            <a:r>
              <a:rPr sz="1000" b="1" i="0">
                <a:solidFill>
                  <a:srgbClr val="148A5B"/>
                </a:solidFill>
                <a:latin typeface="Calibri"/>
              </a:rPr>
              <a:t>✓</a:t>
            </a:r>
            <a:r>
              <a:rPr sz="1000" b="0" i="0">
                <a:solidFill>
                  <a:srgbClr val="1F2937"/>
                </a:solidFill>
                <a:latin typeface="Calibri"/>
              </a:rPr>
              <a:t> Held-out years scored once</a:t>
            </a:r>
          </a:p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48A5B"/>
                </a:solidFill>
                <a:latin typeface="Calibri"/>
              </a:rPr>
              <a:t>✓</a:t>
            </a:r>
            <a:r>
              <a:rPr sz="1000" b="0" i="0">
                <a:solidFill>
                  <a:srgbClr val="1F2937"/>
                </a:solidFill>
                <a:latin typeface="Calibri"/>
              </a:rPr>
              <a:t> Real vs synthetic data tagged and never mixed</a:t>
            </a:r>
          </a:p>
        </p:txBody>
      </p:sp>
      <p:sp>
        <p:nvSpPr>
          <p:cNvPr id="17427" name="Oval 17426"/>
          <p:cNvSpPr/>
          <p:nvPr/>
        </p:nvSpPr>
        <p:spPr>
          <a:xfrm>
            <a:off x="4754880" y="1335024"/>
            <a:ext cx="274320" cy="274320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8" name="Picture 17427" descr="sitema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15230" y="1395374"/>
            <a:ext cx="153619" cy="153619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5093208" y="1325880"/>
            <a:ext cx="670255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6FD1"/>
                </a:solidFill>
                <a:latin typeface="Calibri"/>
              </a:rPr>
              <a:t>System Architecture Flow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754880" y="1691640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Oval 17430"/>
          <p:cNvSpPr/>
          <p:nvPr/>
        </p:nvSpPr>
        <p:spPr>
          <a:xfrm>
            <a:off x="4828032" y="1810512"/>
            <a:ext cx="420624" cy="420624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2" name="Picture 17431" descr="clou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20569" y="1903049"/>
            <a:ext cx="235549" cy="235549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5303520" y="1737360"/>
            <a:ext cx="1645920" cy="5852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F2937"/>
                </a:solidFill>
                <a:latin typeface="Calibri"/>
              </a:rPr>
              <a:t>NOAA GEFSv12 forecasts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AWS Open Data · 1–3 day leads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5870448" y="2350008"/>
            <a:ext cx="0" cy="210312"/>
          </a:xfrm>
          <a:prstGeom prst="line">
            <a:avLst/>
          </a:prstGeom>
          <a:ln w="15875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7150608" y="1691640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Oval 17435"/>
          <p:cNvSpPr/>
          <p:nvPr/>
        </p:nvSpPr>
        <p:spPr>
          <a:xfrm>
            <a:off x="7223760" y="1810512"/>
            <a:ext cx="420624" cy="420624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7" name="Picture 17436" descr="databas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16297" y="1903049"/>
            <a:ext cx="235549" cy="235549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7699248" y="1737360"/>
            <a:ext cx="1645920" cy="5852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F2937"/>
                </a:solidFill>
                <a:latin typeface="Calibri"/>
              </a:rPr>
              <a:t>IMD gridded rainfall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ground truth · 0.25-degree grid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8266176" y="2350008"/>
            <a:ext cx="0" cy="210312"/>
          </a:xfrm>
          <a:prstGeom prst="line">
            <a:avLst/>
          </a:prstGeom>
          <a:ln w="15875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17439"/>
          <p:cNvSpPr/>
          <p:nvPr/>
        </p:nvSpPr>
        <p:spPr>
          <a:xfrm>
            <a:off x="9546336" y="1691640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Oval 17440"/>
          <p:cNvSpPr/>
          <p:nvPr/>
        </p:nvSpPr>
        <p:spPr>
          <a:xfrm>
            <a:off x="9619488" y="1810512"/>
            <a:ext cx="420624" cy="420624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2" name="Picture 17441" descr="gov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2025" y="1903049"/>
            <a:ext cx="235549" cy="235549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10094976" y="1737360"/>
            <a:ext cx="1645920" cy="5852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F2937"/>
                </a:solidFill>
                <a:latin typeface="Calibri"/>
              </a:rPr>
              <a:t>IMD best-track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monsoon depression labels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10661904" y="2350008"/>
            <a:ext cx="0" cy="210312"/>
          </a:xfrm>
          <a:prstGeom prst="line">
            <a:avLst/>
          </a:prstGeom>
          <a:ln w="15875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4754880" y="2578608"/>
            <a:ext cx="7040880" cy="457200"/>
          </a:xfrm>
          <a:prstGeom prst="roundRect">
            <a:avLst>
              <a:gd name="adj" fmla="val 1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Oval 17445"/>
          <p:cNvSpPr/>
          <p:nvPr/>
        </p:nvSpPr>
        <p:spPr>
          <a:xfrm>
            <a:off x="4828032" y="2615184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7" name="Picture 17446" descr="gears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12522" y="2699674"/>
            <a:ext cx="215066" cy="215066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5285232" y="2596896"/>
            <a:ext cx="6446520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Data pipeline</a:t>
            </a:r>
            <a:r>
              <a:rPr sz="1000" b="0" i="0">
                <a:solidFill>
                  <a:srgbClr val="1F2937"/>
                </a:solidFill>
                <a:latin typeface="Calibri"/>
              </a:rPr>
              <a:t> — align to IMD 08:30 IST rain day · crop to India · quality checks · real/synthetic provenance tags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8275320" y="3035808"/>
            <a:ext cx="0" cy="182880"/>
          </a:xfrm>
          <a:prstGeom prst="line">
            <a:avLst/>
          </a:prstGeom>
          <a:ln w="15875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4754880" y="3236976"/>
            <a:ext cx="7040880" cy="1389888"/>
          </a:xfrm>
          <a:prstGeom prst="roundRect">
            <a:avLst>
              <a:gd name="adj" fmla="val 5263"/>
            </a:avLst>
          </a:prstGeom>
          <a:solidFill>
            <a:srgbClr val="E9EBF5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4846320" y="3255264"/>
            <a:ext cx="2743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CORE ENGINE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4864608" y="3511296"/>
            <a:ext cx="1572768" cy="102412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Oval 17452"/>
          <p:cNvSpPr/>
          <p:nvPr/>
        </p:nvSpPr>
        <p:spPr>
          <a:xfrm>
            <a:off x="5449824" y="3566160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4" name="Picture 17453" descr="brain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38337" y="3654673"/>
            <a:ext cx="225308" cy="225308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4901184" y="3986784"/>
            <a:ext cx="1499616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Calibri"/>
              </a:rPr>
              <a:t>Regime classifier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Calibri"/>
              </a:rPr>
              <a:t>850 hPa wind · MSLP · PWAT · vorticity</a:t>
            </a:r>
          </a:p>
        </p:txBody>
      </p:sp>
      <p:cxnSp>
        <p:nvCxnSpPr>
          <p:cNvPr id="17456" name="Connector 17455"/>
          <p:cNvCxnSpPr/>
          <p:nvPr/>
        </p:nvCxnSpPr>
        <p:spPr>
          <a:xfrm>
            <a:off x="6446520" y="4023360"/>
            <a:ext cx="164592" cy="0"/>
          </a:xfrm>
          <a:prstGeom prst="line">
            <a:avLst/>
          </a:prstGeom>
          <a:ln w="15875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7" name="Rounded Rectangle 17456"/>
          <p:cNvSpPr/>
          <p:nvPr/>
        </p:nvSpPr>
        <p:spPr>
          <a:xfrm>
            <a:off x="6620256" y="3511296"/>
            <a:ext cx="1572768" cy="102412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Oval 17457"/>
          <p:cNvSpPr/>
          <p:nvPr/>
        </p:nvSpPr>
        <p:spPr>
          <a:xfrm>
            <a:off x="7205472" y="3566160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9" name="Picture 17458" descr="slider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93985" y="3654673"/>
            <a:ext cx="225308" cy="225308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6656832" y="3986784"/>
            <a:ext cx="1499616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Calibri"/>
              </a:rPr>
              <a:t>Bias correction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Calibri"/>
              </a:rPr>
              <a:t>quantile mapping · LightGBM C1 / C2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8202168" y="4023360"/>
            <a:ext cx="164592" cy="0"/>
          </a:xfrm>
          <a:prstGeom prst="line">
            <a:avLst/>
          </a:prstGeom>
          <a:ln w="15875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2" name="Rounded Rectangle 17461"/>
          <p:cNvSpPr/>
          <p:nvPr/>
        </p:nvSpPr>
        <p:spPr>
          <a:xfrm>
            <a:off x="8375904" y="3511296"/>
            <a:ext cx="1572768" cy="102412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Oval 17462"/>
          <p:cNvSpPr/>
          <p:nvPr/>
        </p:nvSpPr>
        <p:spPr>
          <a:xfrm>
            <a:off x="8961119" y="3566160"/>
            <a:ext cx="402336" cy="402336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4" name="Picture 17463" descr="heavyrain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49633" y="3654673"/>
            <a:ext cx="225308" cy="225308"/>
          </a:xfrm>
          <a:prstGeom prst="rect">
            <a:avLst/>
          </a:prstGeom>
        </p:spPr>
      </p:pic>
      <p:sp>
        <p:nvSpPr>
          <p:cNvPr id="17465" name="TextBox 17464"/>
          <p:cNvSpPr txBox="1"/>
          <p:nvPr/>
        </p:nvSpPr>
        <p:spPr>
          <a:xfrm>
            <a:off x="8412480" y="3986784"/>
            <a:ext cx="1499616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Calibri"/>
              </a:rPr>
              <a:t>Heavy-rain probability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Calibri"/>
              </a:rPr>
              <a:t>calibrated ≥64.5 / ≥115.6 mm</a:t>
            </a:r>
          </a:p>
        </p:txBody>
      </p:sp>
      <p:cxnSp>
        <p:nvCxnSpPr>
          <p:cNvPr id="17466" name="Connector 17465"/>
          <p:cNvCxnSpPr/>
          <p:nvPr/>
        </p:nvCxnSpPr>
        <p:spPr>
          <a:xfrm>
            <a:off x="9957816" y="4023360"/>
            <a:ext cx="164592" cy="0"/>
          </a:xfrm>
          <a:prstGeom prst="line">
            <a:avLst/>
          </a:prstGeom>
          <a:ln w="15875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7" name="Rounded Rectangle 17466"/>
          <p:cNvSpPr/>
          <p:nvPr/>
        </p:nvSpPr>
        <p:spPr>
          <a:xfrm>
            <a:off x="10131552" y="3511296"/>
            <a:ext cx="1572768" cy="102412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14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Oval 17467"/>
          <p:cNvSpPr/>
          <p:nvPr/>
        </p:nvSpPr>
        <p:spPr>
          <a:xfrm>
            <a:off x="10716767" y="3566160"/>
            <a:ext cx="402336" cy="402336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9" name="Picture 17468" descr="mapdot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805281" y="3654673"/>
            <a:ext cx="225308" cy="225308"/>
          </a:xfrm>
          <a:prstGeom prst="rect">
            <a:avLst/>
          </a:prstGeom>
        </p:spPr>
      </p:pic>
      <p:sp>
        <p:nvSpPr>
          <p:cNvPr id="17470" name="TextBox 17469"/>
          <p:cNvSpPr txBox="1"/>
          <p:nvPr/>
        </p:nvSpPr>
        <p:spPr>
          <a:xfrm>
            <a:off x="10168128" y="3986784"/>
            <a:ext cx="1499616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F2937"/>
                </a:solidFill>
                <a:latin typeface="Calibri"/>
              </a:rPr>
              <a:t>District aggregation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1F2937"/>
                </a:solidFill>
                <a:latin typeface="Calibri"/>
              </a:rPr>
              <a:t>641 districts, area-weighted</a:t>
            </a:r>
          </a:p>
        </p:txBody>
      </p:sp>
      <p:cxnSp>
        <p:nvCxnSpPr>
          <p:cNvPr id="17471" name="Connector 17470"/>
          <p:cNvCxnSpPr/>
          <p:nvPr/>
        </p:nvCxnSpPr>
        <p:spPr>
          <a:xfrm>
            <a:off x="8275320" y="4626864"/>
            <a:ext cx="0" cy="201168"/>
          </a:xfrm>
          <a:prstGeom prst="line">
            <a:avLst/>
          </a:prstGeom>
          <a:ln w="15875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2" name="Rounded Rectangle 17471"/>
          <p:cNvSpPr/>
          <p:nvPr/>
        </p:nvSpPr>
        <p:spPr>
          <a:xfrm>
            <a:off x="4754880" y="4846320"/>
            <a:ext cx="2148840" cy="1389888"/>
          </a:xfrm>
          <a:prstGeom prst="roundRect">
            <a:avLst>
              <a:gd name="adj" fmla="val 5263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Oval 17472"/>
          <p:cNvSpPr/>
          <p:nvPr/>
        </p:nvSpPr>
        <p:spPr>
          <a:xfrm>
            <a:off x="4846320" y="4937760"/>
            <a:ext cx="402336" cy="402336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4" name="Picture 17473" descr="chec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34833" y="5026273"/>
            <a:ext cx="225308" cy="225308"/>
          </a:xfrm>
          <a:prstGeom prst="rect">
            <a:avLst/>
          </a:prstGeom>
        </p:spPr>
      </p:pic>
      <p:sp>
        <p:nvSpPr>
          <p:cNvPr id="17475" name="TextBox 17474"/>
          <p:cNvSpPr txBox="1"/>
          <p:nvPr/>
        </p:nvSpPr>
        <p:spPr>
          <a:xfrm>
            <a:off x="5321808" y="4956048"/>
            <a:ext cx="1536192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Verification engine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4846320" y="5394960"/>
            <a:ext cx="2011680" cy="8046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F2937"/>
                </a:solidFill>
                <a:latin typeface="Calibri"/>
              </a:rPr>
              <a:t>RMSE · ETS · CSI · POD · FAR · FSS · Brier · block-bootstrap confidence intervals</a:t>
            </a:r>
          </a:p>
        </p:txBody>
      </p:sp>
      <p:cxnSp>
        <p:nvCxnSpPr>
          <p:cNvPr id="17477" name="Connector 17476"/>
          <p:cNvCxnSpPr/>
          <p:nvPr/>
        </p:nvCxnSpPr>
        <p:spPr>
          <a:xfrm>
            <a:off x="6922008" y="5541264"/>
            <a:ext cx="210312" cy="0"/>
          </a:xfrm>
          <a:prstGeom prst="line">
            <a:avLst/>
          </a:prstGeom>
          <a:ln w="15875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8" name="Rounded Rectangle 17477"/>
          <p:cNvSpPr/>
          <p:nvPr/>
        </p:nvSpPr>
        <p:spPr>
          <a:xfrm>
            <a:off x="7150608" y="4846320"/>
            <a:ext cx="1554480" cy="1389888"/>
          </a:xfrm>
          <a:prstGeom prst="roundRect">
            <a:avLst>
              <a:gd name="adj" fmla="val 5263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Oval 17478"/>
          <p:cNvSpPr/>
          <p:nvPr/>
        </p:nvSpPr>
        <p:spPr>
          <a:xfrm>
            <a:off x="7242048" y="4937760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80" name="Picture 17479" descr="server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30561" y="5026273"/>
            <a:ext cx="225308" cy="225308"/>
          </a:xfrm>
          <a:prstGeom prst="rect">
            <a:avLst/>
          </a:prstGeom>
        </p:spPr>
      </p:pic>
      <p:sp>
        <p:nvSpPr>
          <p:cNvPr id="17481" name="TextBox 17480"/>
          <p:cNvSpPr txBox="1"/>
          <p:nvPr/>
        </p:nvSpPr>
        <p:spPr>
          <a:xfrm>
            <a:off x="7680960" y="4956048"/>
            <a:ext cx="100584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2937"/>
                </a:solidFill>
                <a:latin typeface="Calibri"/>
              </a:rPr>
              <a:t>FastAPI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7242048" y="5394960"/>
            <a:ext cx="1417320" cy="804672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1F2937"/>
                </a:solidFill>
                <a:latin typeface="Calibri"/>
              </a:rPr>
              <a:t>REST API · validated inputs · no file paths from clients</a:t>
            </a:r>
          </a:p>
        </p:txBody>
      </p:sp>
      <p:cxnSp>
        <p:nvCxnSpPr>
          <p:cNvPr id="17483" name="Connector 17482"/>
          <p:cNvCxnSpPr/>
          <p:nvPr/>
        </p:nvCxnSpPr>
        <p:spPr>
          <a:xfrm>
            <a:off x="8723376" y="5541264"/>
            <a:ext cx="210312" cy="0"/>
          </a:xfrm>
          <a:prstGeom prst="line">
            <a:avLst/>
          </a:prstGeom>
          <a:ln w="15875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84" name="Picture 17483" descr="district_panel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61120" y="4846320"/>
            <a:ext cx="2931333" cy="1188720"/>
          </a:xfrm>
          <a:prstGeom prst="rect">
            <a:avLst/>
          </a:prstGeom>
          <a:ln w="12700">
            <a:solidFill>
              <a:srgbClr val="5B6475"/>
            </a:solidFill>
          </a:ln>
        </p:spPr>
      </p:pic>
      <p:sp>
        <p:nvSpPr>
          <p:cNvPr id="17485" name="TextBox 17484"/>
          <p:cNvSpPr txBox="1"/>
          <p:nvPr/>
        </p:nvSpPr>
        <p:spPr>
          <a:xfrm>
            <a:off x="8961120" y="6035040"/>
            <a:ext cx="283464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5B6475"/>
                </a:solidFill>
                <a:latin typeface="Calibri"/>
              </a:rPr>
              <a:t>Dashboard — prototype screenshot</a:t>
            </a:r>
          </a:p>
        </p:txBody>
      </p:sp>
      <p:sp>
        <p:nvSpPr>
          <p:cNvPr id="17486" name="TextBox 17485">
            <a:hlinkClick action="ppaction://hlinksldjump" r:id="rId28"/>
          </p:cNvPr>
          <p:cNvSpPr txBox="1"/>
          <p:nvPr/>
        </p:nvSpPr>
        <p:spPr>
          <a:xfrm>
            <a:off x="228600" y="6400800"/>
            <a:ext cx="516636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17487" name="TextBox 17486">
            <a:hlinkClick action="ppaction://hlinksldjump" r:id="rId29"/>
          </p:cNvPr>
          <p:cNvSpPr txBox="1"/>
          <p:nvPr/>
        </p:nvSpPr>
        <p:spPr>
          <a:xfrm>
            <a:off x="800100" y="6400800"/>
            <a:ext cx="438912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7488" name="TextBox 17487">
            <a:hlinkClick action="ppaction://hlinksldjump" r:id="rId30"/>
          </p:cNvPr>
          <p:cNvSpPr txBox="1"/>
          <p:nvPr/>
        </p:nvSpPr>
        <p:spPr>
          <a:xfrm>
            <a:off x="1293876" y="6400800"/>
            <a:ext cx="438912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1" u="sng">
                <a:solidFill>
                  <a:srgbClr val="FFFFFF"/>
                </a:solidFill>
                <a:latin typeface="Calibri"/>
              </a:rPr>
              <a:t>Tech</a:t>
            </a:r>
          </a:p>
        </p:txBody>
      </p:sp>
      <p:sp>
        <p:nvSpPr>
          <p:cNvPr id="17489" name="TextBox 17488">
            <a:hlinkClick action="ppaction://hlinksldjump" r:id="rId31"/>
          </p:cNvPr>
          <p:cNvSpPr txBox="1"/>
          <p:nvPr/>
        </p:nvSpPr>
        <p:spPr>
          <a:xfrm>
            <a:off x="1787652" y="6400800"/>
            <a:ext cx="982980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7490" name="TextBox 17489">
            <a:hlinkClick action="ppaction://hlinksldjump" r:id="rId32"/>
          </p:cNvPr>
          <p:cNvSpPr txBox="1"/>
          <p:nvPr/>
        </p:nvSpPr>
        <p:spPr>
          <a:xfrm>
            <a:off x="2825496" y="6400800"/>
            <a:ext cx="594360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7491" name="TextBox 17490">
            <a:hlinkClick action="ppaction://hlinksldjump" r:id="rId33"/>
          </p:cNvPr>
          <p:cNvSpPr txBox="1"/>
          <p:nvPr/>
        </p:nvSpPr>
        <p:spPr>
          <a:xfrm>
            <a:off x="3474720" y="6400800"/>
            <a:ext cx="749808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 2026 · PS 26080 · RegimeCast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Oval 17409"/>
          <p:cNvSpPr/>
          <p:nvPr/>
        </p:nvSpPr>
        <p:spPr>
          <a:xfrm>
            <a:off x="320040" y="1106424"/>
            <a:ext cx="274320" cy="274320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" y="1166774"/>
            <a:ext cx="153619" cy="153619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58368" y="1097280"/>
            <a:ext cx="533095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D1"/>
                </a:solidFill>
                <a:latin typeface="Calibri"/>
              </a:rPr>
              <a:t>FEASIBILITY — already proven, not projected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0040" y="1481328"/>
            <a:ext cx="1325880" cy="1024128"/>
          </a:xfrm>
          <a:prstGeom prst="roundRect">
            <a:avLst>
              <a:gd name="adj" fmla="val 7142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320040" y="1517904"/>
            <a:ext cx="132588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F6FD1"/>
                </a:solidFill>
                <a:latin typeface="Calibri"/>
              </a:rPr>
              <a:t>18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65759" y="1993392"/>
            <a:ext cx="1234440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B6475"/>
                </a:solidFill>
                <a:latin typeface="Calibri"/>
              </a:rPr>
              <a:t>monsoon seasons of real data trained &amp; validated (2000–17)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737360" y="1481328"/>
            <a:ext cx="1325880" cy="1024128"/>
          </a:xfrm>
          <a:prstGeom prst="roundRect">
            <a:avLst>
              <a:gd name="adj" fmla="val 7142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1737360" y="1517904"/>
            <a:ext cx="132588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E2761"/>
                </a:solidFill>
                <a:latin typeface="Calibri"/>
              </a:rPr>
              <a:t>29.1 M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783080" y="1993392"/>
            <a:ext cx="1234440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B6475"/>
                </a:solidFill>
                <a:latin typeface="Calibri"/>
              </a:rPr>
              <a:t>training rows (forecast ↔ observation)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154680" y="1481328"/>
            <a:ext cx="1325880" cy="1024128"/>
          </a:xfrm>
          <a:prstGeom prst="roundRect">
            <a:avLst>
              <a:gd name="adj" fmla="val 7142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3154680" y="1517904"/>
            <a:ext cx="132588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48A5B"/>
                </a:solidFill>
                <a:latin typeface="Calibri"/>
              </a:rPr>
              <a:t>641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200400" y="1993392"/>
            <a:ext cx="1234440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B6475"/>
                </a:solidFill>
                <a:latin typeface="Calibri"/>
              </a:rPr>
              <a:t>districts covered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572000" y="1481328"/>
            <a:ext cx="1325880" cy="1024128"/>
          </a:xfrm>
          <a:prstGeom prst="roundRect">
            <a:avLst>
              <a:gd name="adj" fmla="val 7142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4572000" y="1517904"/>
            <a:ext cx="1325880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D95926"/>
                </a:solidFill>
                <a:latin typeface="Calibri"/>
              </a:rPr>
              <a:t>179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617720" y="1993392"/>
            <a:ext cx="1234440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5B6475"/>
                </a:solidFill>
                <a:latin typeface="Calibri"/>
              </a:rPr>
              <a:t>automated tests passing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20040" y="2606040"/>
            <a:ext cx="5669280" cy="9601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 marL="155448" indent="-155448">
              <a:spcAft>
                <a:spcPts val="900"/>
              </a:spcAft>
              <a:buClr>
                <a:srgbClr val="1F6FD1"/>
              </a:buClr>
              <a:buFont typeface="Arial"/>
              <a:buChar char="●"/>
            </a:pPr>
            <a:r>
              <a:rPr sz="1250" b="1" i="0">
                <a:solidFill>
                  <a:srgbClr val="1F6FD1"/>
                </a:solidFill>
                <a:latin typeface="Calibri"/>
              </a:rPr>
              <a:t>Runs on a laptop CPU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: forecast product in </a:t>
            </a:r>
            <a:r>
              <a:rPr sz="1250" b="1" i="0">
                <a:solidFill>
                  <a:srgbClr val="1F2937"/>
                </a:solidFill>
                <a:latin typeface="Calibri"/>
              </a:rPr>
              <a:t>~10 s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, full retrain </a:t>
            </a:r>
            <a:r>
              <a:rPr sz="1250" b="1" i="0">
                <a:solidFill>
                  <a:srgbClr val="1F2937"/>
                </a:solidFill>
                <a:latin typeface="Calibri"/>
              </a:rPr>
              <a:t>~1.5 hours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 — no GPU</a:t>
            </a:r>
          </a:p>
          <a:p>
            <a:pPr algn="l" marL="155448" indent="-155448">
              <a:spcAft>
                <a:spcPts val="900"/>
              </a:spcAft>
              <a:buClr>
                <a:srgbClr val="1F6FD1"/>
              </a:buClr>
              <a:buFont typeface="Arial"/>
              <a:buChar char="●"/>
            </a:pPr>
            <a:r>
              <a:rPr sz="1250" b="1" i="0">
                <a:solidFill>
                  <a:srgbClr val="1F6FD1"/>
                </a:solidFill>
                <a:latin typeface="Calibri"/>
              </a:rPr>
              <a:t>Open data, open source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: NOAA GEFS (AWS) + IMD data — zero licence cost</a:t>
            </a:r>
          </a:p>
          <a:p>
            <a:pPr algn="l" marL="155448" indent="-155448">
              <a:spcAft>
                <a:spcPts val="900"/>
              </a:spcAft>
              <a:buClr>
                <a:srgbClr val="1F6FD1"/>
              </a:buClr>
              <a:buFont typeface="Arial"/>
              <a:buChar char="●"/>
            </a:pPr>
            <a:r>
              <a:rPr sz="1250" b="1" i="0">
                <a:solidFill>
                  <a:srgbClr val="1F6FD1"/>
                </a:solidFill>
                <a:latin typeface="Calibri"/>
              </a:rPr>
              <a:t>Live mode ✓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: today’s NOAA GEFS run → district forecast in </a:t>
            </a:r>
            <a:r>
              <a:rPr sz="1250" b="1" i="0">
                <a:solidFill>
                  <a:srgbClr val="1F2937"/>
                </a:solidFill>
                <a:latin typeface="Calibri"/>
              </a:rPr>
              <a:t>&lt; 1 min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20040" y="3611880"/>
            <a:ext cx="566928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RISKS  →  HOW WE HANDLE THEM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20040" y="3950208"/>
            <a:ext cx="2606040" cy="694944"/>
          </a:xfrm>
          <a:prstGeom prst="roundRect">
            <a:avLst>
              <a:gd name="adj" fmla="val 10526"/>
            </a:avLst>
          </a:prstGeom>
          <a:solidFill>
            <a:srgbClr val="FD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Oval 17427"/>
          <p:cNvSpPr/>
          <p:nvPr/>
        </p:nvSpPr>
        <p:spPr>
          <a:xfrm>
            <a:off x="384048" y="4105656"/>
            <a:ext cx="384048" cy="384048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9" name="Picture 17428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38" y="4190146"/>
            <a:ext cx="215066" cy="215066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822960" y="3977640"/>
            <a:ext cx="2057400" cy="6400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NCMRWF’s NCUM forecast archive is not public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2944368" y="4297680"/>
            <a:ext cx="210312" cy="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3172968" y="3950208"/>
            <a:ext cx="2816352" cy="694944"/>
          </a:xfrm>
          <a:prstGeom prst="roundRect">
            <a:avLst>
              <a:gd name="adj" fmla="val 10526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Oval 17432"/>
          <p:cNvSpPr/>
          <p:nvPr/>
        </p:nvSpPr>
        <p:spPr>
          <a:xfrm>
            <a:off x="3236976" y="4105656"/>
            <a:ext cx="384048" cy="384048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4" name="Picture 17433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1466" y="4190146"/>
            <a:ext cx="215066" cy="215066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3675887" y="3977640"/>
            <a:ext cx="2267712" cy="6400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Validated on NOAA GEFS as proxy; adapter retrains on NCUM once shared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20040" y="4718304"/>
            <a:ext cx="2606040" cy="694944"/>
          </a:xfrm>
          <a:prstGeom prst="roundRect">
            <a:avLst>
              <a:gd name="adj" fmla="val 10526"/>
            </a:avLst>
          </a:prstGeom>
          <a:solidFill>
            <a:srgbClr val="FD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Oval 17436"/>
          <p:cNvSpPr/>
          <p:nvPr/>
        </p:nvSpPr>
        <p:spPr>
          <a:xfrm>
            <a:off x="384048" y="4873752"/>
            <a:ext cx="384048" cy="384048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8" name="Picture 17437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38" y="4958242"/>
            <a:ext cx="215066" cy="215066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822960" y="4745736"/>
            <a:ext cx="2057400" cy="6400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Rare regimes (depressions) have few training days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2944368" y="5065776"/>
            <a:ext cx="210312" cy="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3172968" y="4718304"/>
            <a:ext cx="2816352" cy="694944"/>
          </a:xfrm>
          <a:prstGeom prst="roundRect">
            <a:avLst>
              <a:gd name="adj" fmla="val 10526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Oval 17441"/>
          <p:cNvSpPr/>
          <p:nvPr/>
        </p:nvSpPr>
        <p:spPr>
          <a:xfrm>
            <a:off x="3236976" y="4873752"/>
            <a:ext cx="384048" cy="384048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3" name="Picture 17442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1466" y="4958242"/>
            <a:ext cx="215066" cy="215066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3675887" y="4745736"/>
            <a:ext cx="2267712" cy="6400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Trained on 16 seasons (2000–15); pooled models with regime inputs + fallback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320040" y="5486400"/>
            <a:ext cx="2606040" cy="694944"/>
          </a:xfrm>
          <a:prstGeom prst="roundRect">
            <a:avLst>
              <a:gd name="adj" fmla="val 10526"/>
            </a:avLst>
          </a:prstGeom>
          <a:solidFill>
            <a:srgbClr val="FD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Oval 17445"/>
          <p:cNvSpPr/>
          <p:nvPr/>
        </p:nvSpPr>
        <p:spPr>
          <a:xfrm>
            <a:off x="384048" y="5641848"/>
            <a:ext cx="384048" cy="384048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7" name="Picture 17446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38" y="5726338"/>
            <a:ext cx="215066" cy="215066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822960" y="5513832"/>
            <a:ext cx="2057400" cy="6400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Regime classification is imperfect (macro-F1 0.55)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2944368" y="5833872"/>
            <a:ext cx="210312" cy="0"/>
          </a:xfrm>
          <a:prstGeom prst="line">
            <a:avLst/>
          </a:prstGeom>
          <a:ln w="1905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3172968" y="5486400"/>
            <a:ext cx="2816352" cy="694944"/>
          </a:xfrm>
          <a:prstGeom prst="roundRect">
            <a:avLst>
              <a:gd name="adj" fmla="val 10526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Oval 17450"/>
          <p:cNvSpPr/>
          <p:nvPr/>
        </p:nvSpPr>
        <p:spPr>
          <a:xfrm>
            <a:off x="3236976" y="5641848"/>
            <a:ext cx="384048" cy="384048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2" name="Picture 17451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1466" y="5726338"/>
            <a:ext cx="215066" cy="215066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3675887" y="5513832"/>
            <a:ext cx="2267712" cy="6400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Regime passed as probabilities; transparent rule baseline; evidence tags on every rule</a:t>
            </a:r>
          </a:p>
        </p:txBody>
      </p:sp>
      <p:sp>
        <p:nvSpPr>
          <p:cNvPr id="17454" name="Oval 17453"/>
          <p:cNvSpPr/>
          <p:nvPr/>
        </p:nvSpPr>
        <p:spPr>
          <a:xfrm>
            <a:off x="6263640" y="1106424"/>
            <a:ext cx="274320" cy="274320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5" name="Picture 17454" descr="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990" y="1166774"/>
            <a:ext cx="153619" cy="153619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6601968" y="1097280"/>
            <a:ext cx="523951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D1"/>
                </a:solidFill>
                <a:latin typeface="Calibri"/>
              </a:rPr>
              <a:t>VIABILITY — path to operations</a:t>
            </a:r>
          </a:p>
        </p:txBody>
      </p:sp>
      <p:sp>
        <p:nvSpPr>
          <p:cNvPr id="17457" name="Oval 17456"/>
          <p:cNvSpPr/>
          <p:nvPr/>
        </p:nvSpPr>
        <p:spPr>
          <a:xfrm>
            <a:off x="8206740" y="2921508"/>
            <a:ext cx="1691640" cy="1691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8275320" y="3200400"/>
            <a:ext cx="1554480" cy="11338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RegimeCast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engine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regime AI · correction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probability · districts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6263640" y="1481328"/>
            <a:ext cx="2331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4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Oval 17459"/>
          <p:cNvSpPr/>
          <p:nvPr/>
        </p:nvSpPr>
        <p:spPr>
          <a:xfrm>
            <a:off x="6355079" y="1591056"/>
            <a:ext cx="402336" cy="402336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1" name="Picture 17460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593" y="1679569"/>
            <a:ext cx="225308" cy="225308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6812279" y="1572768"/>
            <a:ext cx="1737360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8A5B"/>
                </a:solidFill>
                <a:latin typeface="Calibri"/>
              </a:rPr>
              <a:t>① Prototype ✓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6355079" y="2048256"/>
            <a:ext cx="2176272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Validated 2016–17 + one-time held-out test (real data)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9509760" y="1481328"/>
            <a:ext cx="2331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Oval 17464"/>
          <p:cNvSpPr/>
          <p:nvPr/>
        </p:nvSpPr>
        <p:spPr>
          <a:xfrm>
            <a:off x="9601200" y="1591056"/>
            <a:ext cx="402336" cy="402336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6" name="Picture 17465" descr="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9713" y="1679569"/>
            <a:ext cx="225308" cy="225308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10058400" y="1572768"/>
            <a:ext cx="1737360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6FD1"/>
                </a:solidFill>
                <a:latin typeface="Calibri"/>
              </a:rPr>
              <a:t>② Live mode ✓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9601200" y="2048256"/>
            <a:ext cx="2176272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Tested on 610 real NOAA daily forecasts (2021–25): AUC 0.88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9509760" y="5029200"/>
            <a:ext cx="2331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5B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Oval 17469"/>
          <p:cNvSpPr/>
          <p:nvPr/>
        </p:nvSpPr>
        <p:spPr>
          <a:xfrm>
            <a:off x="9601200" y="5138928"/>
            <a:ext cx="402336" cy="402336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1" name="Picture 17470" descr="plu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9713" y="5227441"/>
            <a:ext cx="225308" cy="225308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10058400" y="5120640"/>
            <a:ext cx="1737360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5B3FA8"/>
                </a:solidFill>
                <a:latin typeface="Calibri"/>
              </a:rPr>
              <a:t>③ Plug in NCMRWF data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9601200" y="5596128"/>
            <a:ext cx="2176272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Retrain on NCUM / NEPS via the ready adapter; re-verify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6263640" y="5029200"/>
            <a:ext cx="2331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Oval 17474"/>
          <p:cNvSpPr/>
          <p:nvPr/>
        </p:nvSpPr>
        <p:spPr>
          <a:xfrm>
            <a:off x="6355079" y="5138928"/>
            <a:ext cx="402336" cy="402336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6" name="Picture 17475" descr="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593" y="5227441"/>
            <a:ext cx="225308" cy="225308"/>
          </a:xfrm>
          <a:prstGeom prst="rect">
            <a:avLst/>
          </a:prstGeom>
        </p:spPr>
      </p:pic>
      <p:sp>
        <p:nvSpPr>
          <p:cNvPr id="17477" name="TextBox 17476"/>
          <p:cNvSpPr txBox="1"/>
          <p:nvPr/>
        </p:nvSpPr>
        <p:spPr>
          <a:xfrm>
            <a:off x="6812279" y="5120640"/>
            <a:ext cx="1737360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95926"/>
                </a:solidFill>
                <a:latin typeface="Calibri"/>
              </a:rPr>
              <a:t>④ Daily operations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6355079" y="5596128"/>
            <a:ext cx="2176272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Products every forecast cycle → IMD / NCMRWF dashboards</a:t>
            </a:r>
          </a:p>
        </p:txBody>
      </p:sp>
      <p:cxnSp>
        <p:nvCxnSpPr>
          <p:cNvPr id="17479" name="Connector 17478"/>
          <p:cNvCxnSpPr/>
          <p:nvPr/>
        </p:nvCxnSpPr>
        <p:spPr>
          <a:xfrm>
            <a:off x="8613648" y="2066543"/>
            <a:ext cx="877824" cy="0"/>
          </a:xfrm>
          <a:prstGeom prst="line">
            <a:avLst/>
          </a:prstGeom>
          <a:ln w="2540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0" name="Connector 17479"/>
          <p:cNvCxnSpPr/>
          <p:nvPr/>
        </p:nvCxnSpPr>
        <p:spPr>
          <a:xfrm>
            <a:off x="10671048" y="2670048"/>
            <a:ext cx="0" cy="2340864"/>
          </a:xfrm>
          <a:prstGeom prst="line">
            <a:avLst/>
          </a:prstGeom>
          <a:ln w="2540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1" name="Connector 17480"/>
          <p:cNvCxnSpPr/>
          <p:nvPr/>
        </p:nvCxnSpPr>
        <p:spPr>
          <a:xfrm flipH="1">
            <a:off x="8613648" y="5614416"/>
            <a:ext cx="877824" cy="0"/>
          </a:xfrm>
          <a:prstGeom prst="line">
            <a:avLst/>
          </a:prstGeom>
          <a:ln w="2540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2" name="Connector 17481"/>
          <p:cNvCxnSpPr/>
          <p:nvPr/>
        </p:nvCxnSpPr>
        <p:spPr>
          <a:xfrm flipV="1">
            <a:off x="7424927" y="2670048"/>
            <a:ext cx="0" cy="2340864"/>
          </a:xfrm>
          <a:prstGeom prst="line">
            <a:avLst/>
          </a:prstGeom>
          <a:ln w="25400">
            <a:solidFill>
              <a:srgbClr val="5B64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3" name="TextBox 17482"/>
          <p:cNvSpPr txBox="1"/>
          <p:nvPr/>
        </p:nvSpPr>
        <p:spPr>
          <a:xfrm>
            <a:off x="6309360" y="3566160"/>
            <a:ext cx="105156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0" i="1">
                <a:solidFill>
                  <a:srgbClr val="5B6475"/>
                </a:solidFill>
                <a:latin typeface="Calibri"/>
              </a:rPr>
              <a:t>continuous</a:t>
            </a:r>
          </a:p>
          <a:p>
            <a:pPr algn="r">
              <a:spcAft>
                <a:spcPts val="0"/>
              </a:spcAft>
            </a:pPr>
            <a:r>
              <a:rPr sz="850" b="0" i="1">
                <a:solidFill>
                  <a:srgbClr val="5B6475"/>
                </a:solidFill>
                <a:latin typeface="Calibri"/>
              </a:rPr>
              <a:t>re-verification</a:t>
            </a:r>
          </a:p>
        </p:txBody>
      </p:sp>
      <p:sp>
        <p:nvSpPr>
          <p:cNvPr id="17484" name="TextBox 17483">
            <a:hlinkClick action="ppaction://hlinksldjump" r:id="rId10"/>
          </p:cNvPr>
          <p:cNvSpPr txBox="1"/>
          <p:nvPr/>
        </p:nvSpPr>
        <p:spPr>
          <a:xfrm>
            <a:off x="228600" y="6400800"/>
            <a:ext cx="516636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17485" name="TextBox 17484">
            <a:hlinkClick action="ppaction://hlinksldjump" r:id="rId11"/>
          </p:cNvPr>
          <p:cNvSpPr txBox="1"/>
          <p:nvPr/>
        </p:nvSpPr>
        <p:spPr>
          <a:xfrm>
            <a:off x="800100" y="6400800"/>
            <a:ext cx="438912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7486" name="TextBox 17485">
            <a:hlinkClick action="ppaction://hlinksldjump" r:id="rId12"/>
          </p:cNvPr>
          <p:cNvSpPr txBox="1"/>
          <p:nvPr/>
        </p:nvSpPr>
        <p:spPr>
          <a:xfrm>
            <a:off x="1293876" y="6400800"/>
            <a:ext cx="438912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Tech</a:t>
            </a:r>
          </a:p>
        </p:txBody>
      </p:sp>
      <p:sp>
        <p:nvSpPr>
          <p:cNvPr id="17487" name="TextBox 17486">
            <a:hlinkClick action="ppaction://hlinksldjump" r:id="rId13"/>
          </p:cNvPr>
          <p:cNvSpPr txBox="1"/>
          <p:nvPr/>
        </p:nvSpPr>
        <p:spPr>
          <a:xfrm>
            <a:off x="1787652" y="6400800"/>
            <a:ext cx="982980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1" u="sng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7488" name="TextBox 17487">
            <a:hlinkClick action="ppaction://hlinksldjump" r:id="rId14"/>
          </p:cNvPr>
          <p:cNvSpPr txBox="1"/>
          <p:nvPr/>
        </p:nvSpPr>
        <p:spPr>
          <a:xfrm>
            <a:off x="2825496" y="6400800"/>
            <a:ext cx="594360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7489" name="TextBox 17488">
            <a:hlinkClick action="ppaction://hlinksldjump" r:id="rId15"/>
          </p:cNvPr>
          <p:cNvSpPr txBox="1"/>
          <p:nvPr/>
        </p:nvSpPr>
        <p:spPr>
          <a:xfrm>
            <a:off x="3474720" y="6400800"/>
            <a:ext cx="749808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 2026 · PS 26080 · RegimeCast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Oval 17409"/>
          <p:cNvSpPr/>
          <p:nvPr/>
        </p:nvSpPr>
        <p:spPr>
          <a:xfrm>
            <a:off x="320040" y="1106424"/>
            <a:ext cx="274320" cy="274320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" y="1166774"/>
            <a:ext cx="153619" cy="153619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58368" y="1097280"/>
            <a:ext cx="615391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D1"/>
                </a:solidFill>
                <a:latin typeface="Calibri"/>
              </a:rPr>
              <a:t>Measured impact — unseen real data, scored once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0040" y="1463040"/>
            <a:ext cx="2084831" cy="1115568"/>
          </a:xfrm>
          <a:prstGeom prst="roundRect">
            <a:avLst>
              <a:gd name="adj" fmla="val 6557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320040" y="1499616"/>
            <a:ext cx="2084831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D95926"/>
                </a:solidFill>
                <a:latin typeface="Calibri"/>
              </a:rPr>
              <a:t>0.56 → 0.90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93192" y="2011680"/>
            <a:ext cx="1938528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5B6475"/>
                </a:solidFill>
                <a:latin typeface="Calibri"/>
              </a:rPr>
              <a:t>heavy-rain detection (ROC AUC), test years 2018–19: raw forecast vs our model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496312" y="1463040"/>
            <a:ext cx="2084831" cy="1115568"/>
          </a:xfrm>
          <a:prstGeom prst="roundRect">
            <a:avLst>
              <a:gd name="adj" fmla="val 6557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2496312" y="1499616"/>
            <a:ext cx="2084831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1F6FD1"/>
                </a:solidFill>
                <a:latin typeface="Calibri"/>
              </a:rPr>
              <a:t>−20%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569464" y="2011680"/>
            <a:ext cx="1938528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5B6475"/>
                </a:solidFill>
                <a:latin typeface="Calibri"/>
              </a:rPr>
              <a:t>day-1 forecast error (RMSE), test years 2018–19; −12% on 610 live NOAA forecasts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672583" y="1463040"/>
            <a:ext cx="2084831" cy="1115568"/>
          </a:xfrm>
          <a:prstGeom prst="roundRect">
            <a:avLst>
              <a:gd name="adj" fmla="val 6557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4672583" y="1499616"/>
            <a:ext cx="2084831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148A5B"/>
                </a:solidFill>
                <a:latin typeface="Calibri"/>
              </a:rPr>
              <a:t>47%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745736" y="2011680"/>
            <a:ext cx="1938528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950" b="0" i="0">
                <a:solidFill>
                  <a:srgbClr val="5B6475"/>
                </a:solidFill>
                <a:latin typeface="Calibri"/>
              </a:rPr>
              <a:t>heavy-rain chance flagged for Mumbai Suburban vs 1.4% base rate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20040" y="2679192"/>
            <a:ext cx="64922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Case study · Mumbai deluge</a:t>
            </a:r>
            <a:r>
              <a:rPr sz="1100" b="0" i="0">
                <a:solidFill>
                  <a:srgbClr val="1E2761"/>
                </a:solidFill>
                <a:latin typeface="Calibri"/>
              </a:rPr>
              <a:t> — rain day ending 08:30 IST, 30-Aug-2017, forecast issued 29-Aug (day 1)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20040" y="2971800"/>
            <a:ext cx="2084831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1F6FD1"/>
                </a:solidFill>
                <a:latin typeface="Calibri"/>
              </a:rPr>
              <a:t>Raw GEFS forecast (mm)</a:t>
            </a:r>
          </a:p>
        </p:txBody>
      </p:sp>
      <p:pic>
        <p:nvPicPr>
          <p:cNvPr id="17424" name="Picture 17423" descr="map_ra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218688"/>
            <a:ext cx="2084831" cy="2285296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2496312" y="2971800"/>
            <a:ext cx="2084831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D95926"/>
                </a:solidFill>
                <a:latin typeface="Calibri"/>
              </a:rPr>
              <a:t>Our P(heavy rain ≥64.5 mm)</a:t>
            </a:r>
          </a:p>
        </p:txBody>
      </p:sp>
      <p:pic>
        <p:nvPicPr>
          <p:cNvPr id="17426" name="Picture 17425" descr="map_he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6312" y="3218688"/>
            <a:ext cx="2084831" cy="2285296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4672583" y="2971800"/>
            <a:ext cx="2084831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148A5B"/>
                </a:solidFill>
                <a:latin typeface="Calibri"/>
              </a:rPr>
              <a:t>IMD observed (mm)</a:t>
            </a:r>
          </a:p>
        </p:txBody>
      </p:sp>
      <p:pic>
        <p:nvPicPr>
          <p:cNvPr id="17428" name="Picture 17427" descr="map_observ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3" y="3218688"/>
            <a:ext cx="2084831" cy="2285296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320040" y="5532120"/>
            <a:ext cx="6492240" cy="74980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Mumbai Suburban: raw </a:t>
            </a:r>
            <a:r>
              <a:rPr sz="950" b="1" i="0">
                <a:solidFill>
                  <a:srgbClr val="1F2937"/>
                </a:solidFill>
                <a:latin typeface="Calibri"/>
              </a:rPr>
              <a:t>60 mm</a:t>
            </a:r>
            <a:r>
              <a:rPr sz="950" b="0" i="0">
                <a:solidFill>
                  <a:srgbClr val="1F2937"/>
                </a:solidFill>
                <a:latin typeface="Calibri"/>
              </a:rPr>
              <a:t> · regime-aware </a:t>
            </a:r>
            <a:r>
              <a:rPr sz="950" b="1" i="0">
                <a:solidFill>
                  <a:srgbClr val="1F2937"/>
                </a:solidFill>
                <a:latin typeface="Calibri"/>
              </a:rPr>
              <a:t>61 mm</a:t>
            </a:r>
            <a:r>
              <a:rPr sz="950" b="0" i="0">
                <a:solidFill>
                  <a:srgbClr val="1F2937"/>
                </a:solidFill>
                <a:latin typeface="Calibri"/>
              </a:rPr>
              <a:t> · U-Net </a:t>
            </a:r>
            <a:r>
              <a:rPr sz="950" b="1" i="0">
                <a:solidFill>
                  <a:srgbClr val="1F2937"/>
                </a:solidFill>
                <a:latin typeface="Calibri"/>
              </a:rPr>
              <a:t>67 mm</a:t>
            </a:r>
            <a:r>
              <a:rPr sz="950" b="0" i="0">
                <a:solidFill>
                  <a:srgbClr val="1F2937"/>
                </a:solidFill>
                <a:latin typeface="Calibri"/>
              </a:rPr>
              <a:t> · quantile-mapped </a:t>
            </a:r>
            <a:r>
              <a:rPr sz="950" b="1" i="0">
                <a:solidFill>
                  <a:srgbClr val="1F2937"/>
                </a:solidFill>
                <a:latin typeface="Calibri"/>
              </a:rPr>
              <a:t>94 mm</a:t>
            </a:r>
            <a:r>
              <a:rPr sz="950" b="0" i="0">
                <a:solidFill>
                  <a:srgbClr val="1F2937"/>
                </a:solidFill>
                <a:latin typeface="Calibri"/>
              </a:rPr>
              <a:t> · observed </a:t>
            </a:r>
            <a:r>
              <a:rPr sz="950" b="1" i="0">
                <a:solidFill>
                  <a:srgbClr val="148A5B"/>
                </a:solidFill>
                <a:latin typeface="Calibri"/>
              </a:rPr>
              <a:t>156 mm</a:t>
            </a:r>
            <a:r>
              <a:rPr sz="950" b="0" i="0">
                <a:solidFill>
                  <a:srgbClr val="1F2937"/>
                </a:solidFill>
                <a:latin typeface="Calibri"/>
              </a:rPr>
              <a:t> — amounts under-forecast the extreme, the </a:t>
            </a:r>
            <a:r>
              <a:rPr sz="950" b="1" i="0">
                <a:solidFill>
                  <a:srgbClr val="D95926"/>
                </a:solidFill>
                <a:latin typeface="Calibri"/>
              </a:rPr>
              <a:t>probability layer flags it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Validation-year case (2017). Dark-mode maps: brighter = more rain (blue) or higher probability (orange)</a:t>
            </a:r>
          </a:p>
        </p:txBody>
      </p:sp>
      <p:sp>
        <p:nvSpPr>
          <p:cNvPr id="17430" name="Oval 17429"/>
          <p:cNvSpPr/>
          <p:nvPr/>
        </p:nvSpPr>
        <p:spPr>
          <a:xfrm>
            <a:off x="7086600" y="1106424"/>
            <a:ext cx="274320" cy="274320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1" name="Picture 17430" descr="targ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6950" y="1166774"/>
            <a:ext cx="153619" cy="153619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7424927" y="1097280"/>
            <a:ext cx="441655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D1"/>
                </a:solidFill>
                <a:latin typeface="Calibri"/>
              </a:rPr>
              <a:t>Benefits of the solution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086600" y="1463040"/>
            <a:ext cx="2304288" cy="10058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ectangle 17433"/>
          <p:cNvSpPr/>
          <p:nvPr/>
        </p:nvSpPr>
        <p:spPr>
          <a:xfrm>
            <a:off x="7104888" y="1481328"/>
            <a:ext cx="2267712" cy="329184"/>
          </a:xfrm>
          <a:prstGeom prst="rect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5" name="Picture 17434" descr="peo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1508760"/>
            <a:ext cx="274320" cy="274320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7507224" y="1490472"/>
            <a:ext cx="182880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159752" y="1847088"/>
            <a:ext cx="2176272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Earlier district-level heavy-rain warnings for flood preparedness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9482328" y="1463040"/>
            <a:ext cx="2304288" cy="10058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148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ectangle 17438"/>
          <p:cNvSpPr/>
          <p:nvPr/>
        </p:nvSpPr>
        <p:spPr>
          <a:xfrm>
            <a:off x="9500616" y="1481328"/>
            <a:ext cx="2267712" cy="329184"/>
          </a:xfrm>
          <a:prstGeom prst="rect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0" name="Picture 17439" descr="rupe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3768" y="1508760"/>
            <a:ext cx="274320" cy="274320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9902952" y="1490472"/>
            <a:ext cx="182880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ECONOMIC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9555480" y="1847088"/>
            <a:ext cx="2176272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Better sowing, irrigation and reservoir decisions from calibrated odds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7086600" y="2560320"/>
            <a:ext cx="2304288" cy="10058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Rectangle 17443"/>
          <p:cNvSpPr/>
          <p:nvPr/>
        </p:nvSpPr>
        <p:spPr>
          <a:xfrm>
            <a:off x="7104888" y="2578608"/>
            <a:ext cx="2267712" cy="32918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5" name="Picture 17444" descr="lea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8040" y="2606039"/>
            <a:ext cx="274320" cy="274320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7507224" y="2587751"/>
            <a:ext cx="182880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ENVIRONMENTAL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7159752" y="2944368"/>
            <a:ext cx="2176272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Smarter water-resource management through monsoon variability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9482328" y="2560320"/>
            <a:ext cx="2304288" cy="10058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9500616" y="2578608"/>
            <a:ext cx="2267712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0" name="Picture 17449" descr="gov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73768" y="2606039"/>
            <a:ext cx="274320" cy="274320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9902952" y="2587751"/>
            <a:ext cx="182880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9555480" y="2944368"/>
            <a:ext cx="2176272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Plugs onto NCMRWF’s existing NWP output — no new weather model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7086600" y="3657600"/>
            <a:ext cx="2304288" cy="10058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5B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Rectangle 17453"/>
          <p:cNvSpPr/>
          <p:nvPr/>
        </p:nvSpPr>
        <p:spPr>
          <a:xfrm>
            <a:off x="7104888" y="3675887"/>
            <a:ext cx="2267712" cy="329184"/>
          </a:xfrm>
          <a:prstGeom prst="rect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5" name="Picture 17454" descr="flas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8040" y="3703320"/>
            <a:ext cx="274320" cy="274320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7507224" y="3685032"/>
            <a:ext cx="182880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SCIENTIFIC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7159752" y="4041648"/>
            <a:ext cx="2176272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Regime-wise error diagnostics, e.g. raw GEFS beats ML correctors in depressions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9482328" y="3657600"/>
            <a:ext cx="2304288" cy="10058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1F6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Rectangle 17458"/>
          <p:cNvSpPr/>
          <p:nvPr/>
        </p:nvSpPr>
        <p:spPr>
          <a:xfrm>
            <a:off x="9500616" y="3675887"/>
            <a:ext cx="2267712" cy="329184"/>
          </a:xfrm>
          <a:prstGeom prst="rect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0" name="Picture 17459" descr="chi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73768" y="3703320"/>
            <a:ext cx="274320" cy="274320"/>
          </a:xfrm>
          <a:prstGeom prst="rect">
            <a:avLst/>
          </a:prstGeom>
        </p:spPr>
      </p:pic>
      <p:sp>
        <p:nvSpPr>
          <p:cNvPr id="17461" name="TextBox 17460"/>
          <p:cNvSpPr txBox="1"/>
          <p:nvPr/>
        </p:nvSpPr>
        <p:spPr>
          <a:xfrm>
            <a:off x="9902952" y="3685032"/>
            <a:ext cx="182880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TECHNOLOGICAL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9555480" y="4041648"/>
            <a:ext cx="2176272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Offline, explainable, auditable — every number traces to data + code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7086600" y="4800600"/>
            <a:ext cx="47548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Who benefits</a:t>
            </a:r>
          </a:p>
        </p:txBody>
      </p:sp>
      <p:sp>
        <p:nvSpPr>
          <p:cNvPr id="17464" name="Oval 17463"/>
          <p:cNvSpPr/>
          <p:nvPr/>
        </p:nvSpPr>
        <p:spPr>
          <a:xfrm>
            <a:off x="7333488" y="510235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5" name="Picture 17464" descr="gov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4071" y="5202936"/>
            <a:ext cx="256032" cy="256032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7086600" y="5596128"/>
            <a:ext cx="950976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F2937"/>
                </a:solidFill>
                <a:latin typeface="Calibri"/>
              </a:rPr>
              <a:t>IMD / NCMRWF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F2937"/>
                </a:solidFill>
                <a:latin typeface="Calibri"/>
              </a:rPr>
              <a:t>forecasters</a:t>
            </a:r>
          </a:p>
        </p:txBody>
      </p:sp>
      <p:sp>
        <p:nvSpPr>
          <p:cNvPr id="17467" name="Oval 17466"/>
          <p:cNvSpPr/>
          <p:nvPr/>
        </p:nvSpPr>
        <p:spPr>
          <a:xfrm>
            <a:off x="8284463" y="5102352"/>
            <a:ext cx="457200" cy="457200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8" name="Picture 17467" descr="floo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5047" y="5202936"/>
            <a:ext cx="256032" cy="256032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8037575" y="5596128"/>
            <a:ext cx="950976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F2937"/>
                </a:solidFill>
                <a:latin typeface="Calibri"/>
              </a:rPr>
              <a:t>NDMA / SDMA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F2937"/>
                </a:solidFill>
                <a:latin typeface="Calibri"/>
              </a:rPr>
              <a:t>disaster mgmt</a:t>
            </a:r>
          </a:p>
        </p:txBody>
      </p:sp>
      <p:sp>
        <p:nvSpPr>
          <p:cNvPr id="17470" name="Oval 17469"/>
          <p:cNvSpPr/>
          <p:nvPr/>
        </p:nvSpPr>
        <p:spPr>
          <a:xfrm>
            <a:off x="9235440" y="5102352"/>
            <a:ext cx="457200" cy="457200"/>
          </a:xfrm>
          <a:prstGeom prst="ellipse">
            <a:avLst/>
          </a:prstGeom>
          <a:solidFill>
            <a:srgbClr val="14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1" name="Picture 17470" descr="tracto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6024" y="5202936"/>
            <a:ext cx="256032" cy="256032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8988552" y="5596128"/>
            <a:ext cx="950976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F2937"/>
                </a:solidFill>
                <a:latin typeface="Calibri"/>
              </a:rPr>
              <a:t>Farmers &amp;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F2937"/>
                </a:solidFill>
                <a:latin typeface="Calibri"/>
              </a:rPr>
              <a:t>agri planners</a:t>
            </a:r>
          </a:p>
        </p:txBody>
      </p:sp>
      <p:sp>
        <p:nvSpPr>
          <p:cNvPr id="17473" name="Oval 17472"/>
          <p:cNvSpPr/>
          <p:nvPr/>
        </p:nvSpPr>
        <p:spPr>
          <a:xfrm>
            <a:off x="10186416" y="5102352"/>
            <a:ext cx="457200" cy="457200"/>
          </a:xfrm>
          <a:prstGeom prst="ellipse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4" name="Picture 17473" descr="wate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87000" y="5202936"/>
            <a:ext cx="256032" cy="256032"/>
          </a:xfrm>
          <a:prstGeom prst="rect">
            <a:avLst/>
          </a:prstGeom>
        </p:spPr>
      </p:pic>
      <p:sp>
        <p:nvSpPr>
          <p:cNvPr id="17475" name="TextBox 17474"/>
          <p:cNvSpPr txBox="1"/>
          <p:nvPr/>
        </p:nvSpPr>
        <p:spPr>
          <a:xfrm>
            <a:off x="9939528" y="5596128"/>
            <a:ext cx="950976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F2937"/>
                </a:solidFill>
                <a:latin typeface="Calibri"/>
              </a:rPr>
              <a:t>Reservoir &amp;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F2937"/>
                </a:solidFill>
                <a:latin typeface="Calibri"/>
              </a:rPr>
              <a:t>water managers</a:t>
            </a:r>
          </a:p>
        </p:txBody>
      </p:sp>
      <p:sp>
        <p:nvSpPr>
          <p:cNvPr id="17476" name="Oval 17475"/>
          <p:cNvSpPr/>
          <p:nvPr/>
        </p:nvSpPr>
        <p:spPr>
          <a:xfrm>
            <a:off x="11137392" y="5102352"/>
            <a:ext cx="457200" cy="457200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7" name="Picture 17476" descr="user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37976" y="5202936"/>
            <a:ext cx="256032" cy="256032"/>
          </a:xfrm>
          <a:prstGeom prst="rect">
            <a:avLst/>
          </a:prstGeom>
        </p:spPr>
      </p:pic>
      <p:sp>
        <p:nvSpPr>
          <p:cNvPr id="17478" name="TextBox 17477"/>
          <p:cNvSpPr txBox="1"/>
          <p:nvPr/>
        </p:nvSpPr>
        <p:spPr>
          <a:xfrm>
            <a:off x="10890504" y="5596128"/>
            <a:ext cx="950976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F2937"/>
                </a:solidFill>
                <a:latin typeface="Calibri"/>
              </a:rPr>
              <a:t>Citizens in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F2937"/>
                </a:solidFill>
                <a:latin typeface="Calibri"/>
              </a:rPr>
              <a:t>flood-prone areas</a:t>
            </a:r>
          </a:p>
        </p:txBody>
      </p:sp>
      <p:sp>
        <p:nvSpPr>
          <p:cNvPr id="17479" name="TextBox 17478">
            <a:hlinkClick action="ppaction://hlinksldjump" r:id="rId19"/>
          </p:cNvPr>
          <p:cNvSpPr txBox="1"/>
          <p:nvPr/>
        </p:nvSpPr>
        <p:spPr>
          <a:xfrm>
            <a:off x="228600" y="6400800"/>
            <a:ext cx="516636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17480" name="TextBox 17479">
            <a:hlinkClick action="ppaction://hlinksldjump" r:id="rId20"/>
          </p:cNvPr>
          <p:cNvSpPr txBox="1"/>
          <p:nvPr/>
        </p:nvSpPr>
        <p:spPr>
          <a:xfrm>
            <a:off x="800100" y="6400800"/>
            <a:ext cx="438912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7481" name="TextBox 17480">
            <a:hlinkClick action="ppaction://hlinksldjump" r:id="rId21"/>
          </p:cNvPr>
          <p:cNvSpPr txBox="1"/>
          <p:nvPr/>
        </p:nvSpPr>
        <p:spPr>
          <a:xfrm>
            <a:off x="1293876" y="6400800"/>
            <a:ext cx="438912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Tech</a:t>
            </a:r>
          </a:p>
        </p:txBody>
      </p:sp>
      <p:sp>
        <p:nvSpPr>
          <p:cNvPr id="17482" name="TextBox 17481">
            <a:hlinkClick action="ppaction://hlinksldjump" r:id="rId22"/>
          </p:cNvPr>
          <p:cNvSpPr txBox="1"/>
          <p:nvPr/>
        </p:nvSpPr>
        <p:spPr>
          <a:xfrm>
            <a:off x="1787652" y="6400800"/>
            <a:ext cx="982980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7483" name="TextBox 17482">
            <a:hlinkClick action="ppaction://hlinksldjump" r:id="rId23"/>
          </p:cNvPr>
          <p:cNvSpPr txBox="1"/>
          <p:nvPr/>
        </p:nvSpPr>
        <p:spPr>
          <a:xfrm>
            <a:off x="2825496" y="6400800"/>
            <a:ext cx="594360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1" u="sng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7484" name="TextBox 17483">
            <a:hlinkClick action="ppaction://hlinksldjump" r:id="rId24"/>
          </p:cNvPr>
          <p:cNvSpPr txBox="1"/>
          <p:nvPr/>
        </p:nvSpPr>
        <p:spPr>
          <a:xfrm>
            <a:off x="3474720" y="6400800"/>
            <a:ext cx="749808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 2026 · PS 26080 · RegimeCast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Oval 17409"/>
          <p:cNvSpPr/>
          <p:nvPr/>
        </p:nvSpPr>
        <p:spPr>
          <a:xfrm>
            <a:off x="320040" y="1106424"/>
            <a:ext cx="274320" cy="2743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" y="1166774"/>
            <a:ext cx="153619" cy="153619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58368" y="1097280"/>
            <a:ext cx="533095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D1"/>
                </a:solidFill>
                <a:latin typeface="Calibri"/>
              </a:rPr>
              <a:t>Key research findings (validated, then held-out)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0040" y="1463040"/>
            <a:ext cx="5669280" cy="841248"/>
          </a:xfrm>
          <a:prstGeom prst="roundRect">
            <a:avLst>
              <a:gd name="adj" fmla="val 8695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Oval 17413"/>
          <p:cNvSpPr/>
          <p:nvPr/>
        </p:nvSpPr>
        <p:spPr>
          <a:xfrm>
            <a:off x="411480" y="16459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1746504"/>
            <a:ext cx="256032" cy="256032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960120" y="1508760"/>
            <a:ext cx="498348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Regime-awareness helps — modestly and provably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60120" y="1810512"/>
            <a:ext cx="4983480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Beats the regime-blind model on RMSE in validation and on both held-out sets (test: 0.08 mm, 95% CI 0.03–0.14); strongest over the Western Ghats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0040" y="2377440"/>
            <a:ext cx="5669280" cy="841248"/>
          </a:xfrm>
          <a:prstGeom prst="roundRect">
            <a:avLst>
              <a:gd name="adj" fmla="val 8695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Oval 17418"/>
          <p:cNvSpPr/>
          <p:nvPr/>
        </p:nvSpPr>
        <p:spPr>
          <a:xfrm>
            <a:off x="411480" y="2560320"/>
            <a:ext cx="457200" cy="457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0" name="Picture 17419" descr="ch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2660904"/>
            <a:ext cx="256032" cy="256032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960120" y="2423160"/>
            <a:ext cx="498348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5B3FA8"/>
                </a:solidFill>
                <a:latin typeface="Calibri"/>
              </a:rPr>
              <a:t>Deep learning wins on heavy rain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60120" y="2724912"/>
            <a:ext cx="4983480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U-Net heavy-rain ETS 0.155 vs 0.098 (test) and 0.096 vs 0.070 (live forecasts), both significant; wetter on average, so it is an extra layer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0040" y="3291840"/>
            <a:ext cx="5669280" cy="841248"/>
          </a:xfrm>
          <a:prstGeom prst="roundRect">
            <a:avLst>
              <a:gd name="adj" fmla="val 8695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411480" y="3474720"/>
            <a:ext cx="457200" cy="457200"/>
          </a:xfrm>
          <a:prstGeom prst="ellipse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heavy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3575304"/>
            <a:ext cx="256032" cy="256032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960120" y="3337560"/>
            <a:ext cx="498348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D95926"/>
                </a:solidFill>
                <a:latin typeface="Calibri"/>
              </a:rPr>
              <a:t>Heavy rain needs probabilities; splitting data hurts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60120" y="3639312"/>
            <a:ext cx="4983480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Yes/no exceedance scores below climatology; our probability model AUC 0.90 on test years; per-regime quantile mapping stays worse even with 16 seasons</a:t>
            </a:r>
          </a:p>
        </p:txBody>
      </p:sp>
      <p:sp>
        <p:nvSpPr>
          <p:cNvPr id="17428" name="Oval 17427"/>
          <p:cNvSpPr/>
          <p:nvPr/>
        </p:nvSpPr>
        <p:spPr>
          <a:xfrm>
            <a:off x="320040" y="4233672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9" name="Picture 17428" descr="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390" y="4294022"/>
            <a:ext cx="153619" cy="153619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658368" y="4224528"/>
            <a:ext cx="533095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References  (click to open)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20040" y="4572000"/>
            <a:ext cx="5669280" cy="17190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55448" indent="-155448">
              <a:spcAft>
                <a:spcPts val="150"/>
              </a:spcAft>
              <a:buClr>
                <a:srgbClr val="1F6FD1"/>
              </a:buClr>
              <a:buFont typeface="Arial"/>
              <a:buChar char="▸"/>
            </a:pPr>
            <a:r>
              <a:rPr sz="900">
                <a:solidFill>
                  <a:srgbClr val="1F6FD1"/>
                </a:solidFill>
                <a:latin typeface="Calibri"/>
                <a:hlinkClick r:id="rId9"/>
              </a:rPr>
              <a:t>Rajeevan, Gadgil &amp; Bhate (2010) — Active and break spells of the Indian summer monsoon, J. Earth Syst. Sci.</a:t>
            </a:r>
          </a:p>
          <a:p>
            <a:pPr marL="155448" indent="-155448">
              <a:spcAft>
                <a:spcPts val="150"/>
              </a:spcAft>
              <a:buClr>
                <a:srgbClr val="1F6FD1"/>
              </a:buClr>
              <a:buFont typeface="Arial"/>
              <a:buChar char="▸"/>
            </a:pPr>
            <a:r>
              <a:rPr sz="900">
                <a:solidFill>
                  <a:srgbClr val="1F6FD1"/>
                </a:solidFill>
                <a:latin typeface="Calibri"/>
                <a:hlinkClick r:id="rId10"/>
              </a:rPr>
              <a:t>Pai et al. (2014) — IMD 0.25-degree gridded daily rainfall, MAUSAM</a:t>
            </a:r>
          </a:p>
          <a:p>
            <a:pPr marL="155448" indent="-155448">
              <a:spcAft>
                <a:spcPts val="150"/>
              </a:spcAft>
              <a:buClr>
                <a:srgbClr val="1F6FD1"/>
              </a:buClr>
              <a:buFont typeface="Arial"/>
              <a:buChar char="▸"/>
            </a:pPr>
            <a:r>
              <a:rPr sz="900">
                <a:solidFill>
                  <a:srgbClr val="1F6FD1"/>
                </a:solidFill>
                <a:latin typeface="Calibri"/>
                <a:hlinkClick r:id="rId11"/>
              </a:rPr>
              <a:t>NOAA GEFSv12 Reforecast — AWS Open Data Registry</a:t>
            </a:r>
          </a:p>
          <a:p>
            <a:pPr marL="155448" indent="-155448">
              <a:spcAft>
                <a:spcPts val="150"/>
              </a:spcAft>
              <a:buClr>
                <a:srgbClr val="1F6FD1"/>
              </a:buClr>
              <a:buFont typeface="Arial"/>
              <a:buChar char="▸"/>
            </a:pPr>
            <a:r>
              <a:rPr sz="900">
                <a:solidFill>
                  <a:srgbClr val="1F6FD1"/>
                </a:solidFill>
                <a:latin typeface="Calibri"/>
                <a:hlinkClick r:id="rId12"/>
              </a:rPr>
              <a:t>Roberts &amp; Lean (2008) — Fractions Skill Score, Monthly Weather Review</a:t>
            </a:r>
          </a:p>
          <a:p>
            <a:pPr marL="155448" indent="-155448">
              <a:spcAft>
                <a:spcPts val="150"/>
              </a:spcAft>
              <a:buClr>
                <a:srgbClr val="1F6FD1"/>
              </a:buClr>
              <a:buFont typeface="Arial"/>
              <a:buChar char="▸"/>
            </a:pPr>
            <a:r>
              <a:rPr sz="900">
                <a:solidFill>
                  <a:srgbClr val="1F6FD1"/>
                </a:solidFill>
                <a:latin typeface="Calibri"/>
                <a:hlinkClick r:id="rId13"/>
              </a:rPr>
              <a:t>IMD RSMC New Delhi — cyclone and monsoon-depression best track</a:t>
            </a:r>
          </a:p>
          <a:p>
            <a:pPr marL="155448" indent="-155448">
              <a:spcAft>
                <a:spcPts val="150"/>
              </a:spcAft>
              <a:buClr>
                <a:srgbClr val="1F6FD1"/>
              </a:buClr>
              <a:buFont typeface="Arial"/>
              <a:buChar char="▸"/>
            </a:pPr>
            <a:r>
              <a:rPr sz="900">
                <a:solidFill>
                  <a:srgbClr val="1F6FD1"/>
                </a:solidFill>
                <a:latin typeface="Calibri"/>
                <a:hlinkClick r:id="rId14"/>
              </a:rPr>
              <a:t>Hunt — ERA5 South Asian low-pressure-system catalogue (Zenodo, CC BY 4.0)</a:t>
            </a:r>
          </a:p>
          <a:p>
            <a:pPr marL="155448" indent="-155448">
              <a:spcAft>
                <a:spcPts val="150"/>
              </a:spcAft>
              <a:buClr>
                <a:srgbClr val="1F6FD1"/>
              </a:buClr>
              <a:buFont typeface="Arial"/>
              <a:buChar char="▸"/>
            </a:pPr>
            <a:r>
              <a:rPr sz="900">
                <a:solidFill>
                  <a:srgbClr val="1F6FD1"/>
                </a:solidFill>
                <a:latin typeface="Calibri"/>
                <a:hlinkClick r:id="rId15"/>
              </a:rPr>
              <a:t>District boundaries — DataMeet / Survey of India index maps</a:t>
            </a:r>
          </a:p>
        </p:txBody>
      </p:sp>
      <p:sp>
        <p:nvSpPr>
          <p:cNvPr id="17432" name="Oval 17431"/>
          <p:cNvSpPr/>
          <p:nvPr/>
        </p:nvSpPr>
        <p:spPr>
          <a:xfrm>
            <a:off x="6263640" y="1106424"/>
            <a:ext cx="274320" cy="274320"/>
          </a:xfrm>
          <a:prstGeom prst="ellipse">
            <a:avLst/>
          </a:prstGeom>
          <a:solidFill>
            <a:srgbClr val="1F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3" name="Picture 17432" descr="chartlin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3990" y="1166774"/>
            <a:ext cx="153619" cy="153619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6601968" y="1097280"/>
            <a:ext cx="523951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D1"/>
                </a:solidFill>
                <a:latin typeface="Calibri"/>
              </a:rPr>
              <a:t>Comparison with existing approaches — day 1, unseen 2018–19</a:t>
            </a:r>
          </a:p>
        </p:txBody>
      </p:sp>
      <p:graphicFrame>
        <p:nvGraphicFramePr>
          <p:cNvPr id="17435" name="Table 17434"/>
          <p:cNvGraphicFramePr>
            <a:graphicFrameLocks noGrp="1"/>
          </p:cNvGraphicFramePr>
          <p:nvPr/>
        </p:nvGraphicFramePr>
        <p:xfrm>
          <a:off x="6263640" y="1463040"/>
          <a:ext cx="5577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713232"/>
                <a:gridCol w="749808"/>
                <a:gridCol w="713232"/>
                <a:gridCol w="749808"/>
                <a:gridCol w="713232"/>
                <a:gridCol w="71323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Raw NWP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Quantile
mapping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Global
ML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Regime-
aware C1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Regime-
split C2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U-Net
(DL)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Calibri"/>
                        </a:rPr>
                        <a:t>RMSE (mm) 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16.73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17.99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13.49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48A5B"/>
                          </a:solidFill>
                          <a:latin typeface="Calibri"/>
                        </a:rPr>
                        <a:t>13.39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13.47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13.51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Calibri"/>
                        </a:rPr>
                        <a:t>Correlation ↑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0.487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0.496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0.599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0.607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0.601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48A5B"/>
                          </a:solidFill>
                          <a:latin typeface="Calibri"/>
                        </a:rPr>
                        <a:t>0.613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Calibri"/>
                        </a:rPr>
                        <a:t>ETS ≥64.5 mm ↑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0.108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0.151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0.098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48A5B"/>
                          </a:solidFill>
                          <a:latin typeface="Calibri"/>
                        </a:rPr>
                        <a:t>0.155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Calibri"/>
                        </a:rPr>
                        <a:t>FSS ≥64.5 mm ↑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0.520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48A5B"/>
                          </a:solidFill>
                          <a:latin typeface="Calibri"/>
                        </a:rPr>
                        <a:t>0.593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0.357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0.353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0.365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</a:rPr>
                        <a:t>0.551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17436" name="TextBox 17435"/>
          <p:cNvSpPr txBox="1"/>
          <p:nvPr/>
        </p:nvSpPr>
        <p:spPr>
          <a:xfrm>
            <a:off x="6263640" y="3429000"/>
            <a:ext cx="557784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5B6475"/>
                </a:solidFill>
                <a:latin typeface="Calibri"/>
              </a:rPr>
              <a:t>Test years 2018–19: never used for training or tuning, scored once. Green = best. ML models cut average error; the U-Net and quantile mapping keep heavy-rain skill — heavy rain is also issued as a probability.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263640" y="4023360"/>
            <a:ext cx="557784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What sets RegimeCast apart</a:t>
            </a:r>
          </a:p>
        </p:txBody>
      </p:sp>
      <p:graphicFrame>
        <p:nvGraphicFramePr>
          <p:cNvPr id="17438" name="Table 17437"/>
          <p:cNvGraphicFramePr>
            <a:graphicFrameLocks noGrp="1"/>
          </p:cNvGraphicFramePr>
          <p:nvPr/>
        </p:nvGraphicFramePr>
        <p:xfrm>
          <a:off x="6263640" y="4370832"/>
          <a:ext cx="5577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1051560"/>
                <a:gridCol w="10515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45720" marR="45720" marT="18288" marB="18288" anchor="ctr">
                    <a:solidFill>
                      <a:srgbClr val="1F6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Raw NWP</a:t>
                      </a:r>
                    </a:p>
                  </a:txBody>
                  <a:tcPr marL="45720" marR="45720" marT="18288" marB="18288" anchor="ctr">
                    <a:solidFill>
                      <a:srgbClr val="1F6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Single bias
correction</a:t>
                      </a:r>
                    </a:p>
                  </a:txBody>
                  <a:tcPr marL="45720" marR="45720" marT="18288" marB="18288" anchor="ctr">
                    <a:solidFill>
                      <a:srgbClr val="1F6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RegimeCast</a:t>
                      </a:r>
                    </a:p>
                  </a:txBody>
                  <a:tcPr marL="45720" marR="45720" marT="18288" marB="18288" anchor="ctr">
                    <a:solidFill>
                      <a:srgbClr val="1F6FD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Calibri"/>
                        </a:rPr>
                        <a:t>Corrects systematic NWP bias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0392B"/>
                          </a:solidFill>
                          <a:latin typeface="Segoe UI Symbol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48A5B"/>
                          </a:solidFill>
                          <a:latin typeface="Segoe UI Symbol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48A5B"/>
                          </a:solidFill>
                          <a:latin typeface="Segoe UI Symbol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Calibri"/>
                        </a:rPr>
                        <a:t>Adapts correction to weather regime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0392B"/>
                          </a:solidFill>
                          <a:latin typeface="Segoe UI Symbol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0392B"/>
                          </a:solidFill>
                          <a:latin typeface="Segoe UI Symbol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48A5B"/>
                          </a:solidFill>
                          <a:latin typeface="Segoe UI Symbol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Calibri"/>
                        </a:rPr>
                        <a:t>Calibrated heavy-rain probability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0392B"/>
                          </a:solidFill>
                          <a:latin typeface="Segoe UI Symbol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0392B"/>
                          </a:solidFill>
                          <a:latin typeface="Segoe UI Symbol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48A5B"/>
                          </a:solidFill>
                          <a:latin typeface="Segoe UI Symbol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Calibri"/>
                        </a:rPr>
                        <a:t>Explanation shipped with each forecast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0392B"/>
                          </a:solidFill>
                          <a:latin typeface="Segoe UI Symbol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0392B"/>
                          </a:solidFill>
                          <a:latin typeface="Segoe UI Symbol"/>
                        </a:rPr>
                        <a:t>✖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48A5B"/>
                          </a:solidFill>
                          <a:latin typeface="Segoe UI Symbol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17439" name="TextBox 17438">
            <a:hlinkClick action="ppaction://hlinksldjump" r:id="rId17"/>
          </p:cNvPr>
          <p:cNvSpPr txBox="1"/>
          <p:nvPr/>
        </p:nvSpPr>
        <p:spPr>
          <a:xfrm>
            <a:off x="228600" y="6400800"/>
            <a:ext cx="516636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17440" name="TextBox 17439">
            <a:hlinkClick action="ppaction://hlinksldjump" r:id="rId18"/>
          </p:cNvPr>
          <p:cNvSpPr txBox="1"/>
          <p:nvPr/>
        </p:nvSpPr>
        <p:spPr>
          <a:xfrm>
            <a:off x="800100" y="6400800"/>
            <a:ext cx="438912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7441" name="TextBox 17440">
            <a:hlinkClick action="ppaction://hlinksldjump" r:id="rId19"/>
          </p:cNvPr>
          <p:cNvSpPr txBox="1"/>
          <p:nvPr/>
        </p:nvSpPr>
        <p:spPr>
          <a:xfrm>
            <a:off x="1293876" y="6400800"/>
            <a:ext cx="438912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Tech</a:t>
            </a:r>
          </a:p>
        </p:txBody>
      </p:sp>
      <p:sp>
        <p:nvSpPr>
          <p:cNvPr id="17442" name="TextBox 17441">
            <a:hlinkClick action="ppaction://hlinksldjump" r:id="rId20"/>
          </p:cNvPr>
          <p:cNvSpPr txBox="1"/>
          <p:nvPr/>
        </p:nvSpPr>
        <p:spPr>
          <a:xfrm>
            <a:off x="1787652" y="6400800"/>
            <a:ext cx="982980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7443" name="TextBox 17442">
            <a:hlinkClick action="ppaction://hlinksldjump" r:id="rId21"/>
          </p:cNvPr>
          <p:cNvSpPr txBox="1"/>
          <p:nvPr/>
        </p:nvSpPr>
        <p:spPr>
          <a:xfrm>
            <a:off x="2825496" y="6400800"/>
            <a:ext cx="594360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0" u="none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7444" name="TextBox 17443">
            <a:hlinkClick action="ppaction://hlinksldjump" r:id="rId22"/>
          </p:cNvPr>
          <p:cNvSpPr txBox="1"/>
          <p:nvPr/>
        </p:nvSpPr>
        <p:spPr>
          <a:xfrm>
            <a:off x="3474720" y="6400800"/>
            <a:ext cx="749808" cy="384048"/>
          </a:xfrm>
          <a:prstGeom prst="rect">
            <a:avLst/>
          </a:prstGeom>
          <a:noFill/>
        </p:spPr>
        <p:txBody>
          <a:bodyPr wrap="none" lIns="18288" rIns="18288" anchor="ctr">
            <a:spAutoFit/>
          </a:bodyPr>
          <a:lstStyle/>
          <a:p>
            <a:pPr algn="ctr"/>
            <a:r>
              <a:rPr sz="1050" b="1" u="sng">
                <a:solidFill>
                  <a:srgbClr val="FFFFFF"/>
                </a:solidFill>
                <a:latin typeface="Calibri"/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