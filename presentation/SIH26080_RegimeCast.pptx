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Problem: NWP rainfall errors depend on the monsoon regime. Idea: identify the regime from the forecast itself and correct with it, issuing heavy-rain probabilities per district. Resolution numbers are from data never used for training: test years 2018-19 and 610 real NOAA operational forecasts (2021-25).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Real data in, verified products out. The terminal lines are the actual output of the live run on NOAA's 28 Sep 2026 00 UTC forecast.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Everything in the feasibility box already runs. The main external dependency is NCMRWF's NCUM archive, which plugs into the existing adapter.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Headline numbers are from data never used for training or model choice. The Kerala maps are the product for the forecast issued on 15 Aug 2018, a test-year date built only after the one-time evaluation.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Findings come from reports/final_evaluation.md and VERIFICATION.md; every reference is linked.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RegimeCast: AI post-processing that corrects NWP rainfall forecasts according to the monsoon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slide" Target="slide1.xml"/><Relationship Id="rId15" Type="http://schemas.openxmlformats.org/officeDocument/2006/relationships/slide" Target="slide2.xml"/><Relationship Id="rId16" Type="http://schemas.openxmlformats.org/officeDocument/2006/relationships/slide" Target="slide3.xml"/><Relationship Id="rId17" Type="http://schemas.openxmlformats.org/officeDocument/2006/relationships/slide" Target="slide4.xml"/><Relationship Id="rId18" Type="http://schemas.openxmlformats.org/officeDocument/2006/relationships/slide" Target="slide5.xml"/><Relationship Id="rId19" Type="http://schemas.openxmlformats.org/officeDocument/2006/relationships/slide" Target="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6.png"/><Relationship Id="rId20" Type="http://schemas.openxmlformats.org/officeDocument/2006/relationships/image" Target="../media/image7.png"/><Relationship Id="rId21" Type="http://schemas.openxmlformats.org/officeDocument/2006/relationships/image" Target="../media/image8.png"/><Relationship Id="rId22" Type="http://schemas.openxmlformats.org/officeDocument/2006/relationships/image" Target="../media/image9.png"/><Relationship Id="rId23" Type="http://schemas.openxmlformats.org/officeDocument/2006/relationships/image" Target="../media/image10.png"/><Relationship Id="rId24" Type="http://schemas.openxmlformats.org/officeDocument/2006/relationships/image" Target="../media/image11.png"/><Relationship Id="rId25" Type="http://schemas.openxmlformats.org/officeDocument/2006/relationships/image" Target="../media/image28.png"/><Relationship Id="rId26" Type="http://schemas.openxmlformats.org/officeDocument/2006/relationships/image" Target="../media/image29.png"/><Relationship Id="rId27" Type="http://schemas.openxmlformats.org/officeDocument/2006/relationships/slide" Target="slide1.xml"/><Relationship Id="rId28" Type="http://schemas.openxmlformats.org/officeDocument/2006/relationships/slide" Target="slide2.xml"/><Relationship Id="rId29" Type="http://schemas.openxmlformats.org/officeDocument/2006/relationships/slide" Target="slide3.xml"/><Relationship Id="rId30" Type="http://schemas.openxmlformats.org/officeDocument/2006/relationships/slide" Target="slide4.xml"/><Relationship Id="rId31" Type="http://schemas.openxmlformats.org/officeDocument/2006/relationships/slide" Target="slide5.xml"/><Relationship Id="rId32" Type="http://schemas.openxmlformats.org/officeDocument/2006/relationships/slide" Target="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3.png"/><Relationship Id="rId6" Type="http://schemas.openxmlformats.org/officeDocument/2006/relationships/image" Target="../media/image30.png"/><Relationship Id="rId7" Type="http://schemas.openxmlformats.org/officeDocument/2006/relationships/slide" Target="slide1.xml"/><Relationship Id="rId8" Type="http://schemas.openxmlformats.org/officeDocument/2006/relationships/slide" Target="slide2.xml"/><Relationship Id="rId9" Type="http://schemas.openxmlformats.org/officeDocument/2006/relationships/slide" Target="slide3.xml"/><Relationship Id="rId10" Type="http://schemas.openxmlformats.org/officeDocument/2006/relationships/slide" Target="slide4.xml"/><Relationship Id="rId11" Type="http://schemas.openxmlformats.org/officeDocument/2006/relationships/slide" Target="slide5.xml"/><Relationship Id="rId12" Type="http://schemas.openxmlformats.org/officeDocument/2006/relationships/slide" Target="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12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image" Target="../media/image37.png"/><Relationship Id="rId12" Type="http://schemas.openxmlformats.org/officeDocument/2006/relationships/image" Target="../media/image38.png"/><Relationship Id="rId13" Type="http://schemas.openxmlformats.org/officeDocument/2006/relationships/image" Target="../media/image39.png"/><Relationship Id="rId14" Type="http://schemas.openxmlformats.org/officeDocument/2006/relationships/image" Target="../media/image40.png"/><Relationship Id="rId15" Type="http://schemas.openxmlformats.org/officeDocument/2006/relationships/image" Target="../media/image41.png"/><Relationship Id="rId16" Type="http://schemas.openxmlformats.org/officeDocument/2006/relationships/image" Target="../media/image42.png"/><Relationship Id="rId17" Type="http://schemas.openxmlformats.org/officeDocument/2006/relationships/image" Target="../media/image43.png"/><Relationship Id="rId18" Type="http://schemas.openxmlformats.org/officeDocument/2006/relationships/image" Target="../media/image44.png"/><Relationship Id="rId19" Type="http://schemas.openxmlformats.org/officeDocument/2006/relationships/slide" Target="slide1.xml"/><Relationship Id="rId20" Type="http://schemas.openxmlformats.org/officeDocument/2006/relationships/slide" Target="slide2.xml"/><Relationship Id="rId21" Type="http://schemas.openxmlformats.org/officeDocument/2006/relationships/slide" Target="slide3.xml"/><Relationship Id="rId22" Type="http://schemas.openxmlformats.org/officeDocument/2006/relationships/slide" Target="slide4.xml"/><Relationship Id="rId23" Type="http://schemas.openxmlformats.org/officeDocument/2006/relationships/slide" Target="slide5.xml"/><Relationship Id="rId24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39.png"/><Relationship Id="rId7" Type="http://schemas.openxmlformats.org/officeDocument/2006/relationships/image" Target="../media/image3.png"/><Relationship Id="rId8" Type="http://schemas.openxmlformats.org/officeDocument/2006/relationships/hyperlink" Target="https://doi.org/10.1007/s12040-010-0019-4" TargetMode="External"/><Relationship Id="rId9" Type="http://schemas.openxmlformats.org/officeDocument/2006/relationships/hyperlink" Target="https://www.imdpune.gov.in/cmpg/Griddata/ref_paper_MAUSAM.pdf" TargetMode="External"/><Relationship Id="rId10" Type="http://schemas.openxmlformats.org/officeDocument/2006/relationships/hyperlink" Target="https://registry.opendata.aws/noaa-gefs-reforecast/" TargetMode="External"/><Relationship Id="rId11" Type="http://schemas.openxmlformats.org/officeDocument/2006/relationships/hyperlink" Target="https://doi.org/10.1175/2007MWR2123.1" TargetMode="External"/><Relationship Id="rId12" Type="http://schemas.openxmlformats.org/officeDocument/2006/relationships/hyperlink" Target="https://lightgbm.readthedocs.io/" TargetMode="External"/><Relationship Id="rId13" Type="http://schemas.openxmlformats.org/officeDocument/2006/relationships/hyperlink" Target="https://arxiv.org/abs/1505.04597" TargetMode="External"/><Relationship Id="rId14" Type="http://schemas.openxmlformats.org/officeDocument/2006/relationships/hyperlink" Target="https://rsmcnewdelhi.imd.gov.in/" TargetMode="External"/><Relationship Id="rId15" Type="http://schemas.openxmlformats.org/officeDocument/2006/relationships/hyperlink" Target="https://projects.datameet.org/maps/districts/" TargetMode="External"/><Relationship Id="rId16" Type="http://schemas.openxmlformats.org/officeDocument/2006/relationships/slide" Target="slide1.xml"/><Relationship Id="rId17" Type="http://schemas.openxmlformats.org/officeDocument/2006/relationships/slide" Target="slide2.xml"/><Relationship Id="rId18" Type="http://schemas.openxmlformats.org/officeDocument/2006/relationships/slide" Target="slide3.xml"/><Relationship Id="rId19" Type="http://schemas.openxmlformats.org/officeDocument/2006/relationships/slide" Target="slide4.xml"/><Relationship Id="rId20" Type="http://schemas.openxmlformats.org/officeDocument/2006/relationships/slide" Target="slide5.xml"/><Relationship Id="rId21" Type="http://schemas.openxmlformats.org/officeDocument/2006/relationships/slide" Target="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RegimeCast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E2761"/>
                </a:solidFill>
                <a:latin typeface="Arial"/>
              </a:rPr>
              <a:t>Problem Statement ID – 26080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E2761"/>
                </a:solidFill>
                <a:latin typeface="Arial"/>
              </a:rPr>
              <a:t>Problem Statement Title – Regime-Aware AI Post-Processing of Monsoon Rainfall Forecasts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E2761"/>
                </a:solidFill>
                <a:latin typeface="Arial"/>
              </a:rPr>
              <a:t>Theme – Smart Automation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E2761"/>
                </a:solidFill>
                <a:latin typeface="Arial"/>
              </a:rPr>
              <a:t>PS Category –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11480" y="2103120"/>
            <a:ext cx="5852160" cy="36576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500" b="1" i="1">
                <a:solidFill>
                  <a:srgbClr val="1F6FD1"/>
                </a:solidFill>
                <a:latin typeface="Calibri"/>
              </a:rPr>
              <a:t>Regime-aware AI post-processing of monsoon rainfall forecasts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RegimeCast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SIH 2026 · PS 26080 · RegimeCast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1737360" y="1069848"/>
            <a:ext cx="7955279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250" b="0" i="1">
                <a:solidFill>
                  <a:srgbClr val="1E2761"/>
                </a:solidFill>
                <a:latin typeface="Calibri"/>
              </a:rPr>
              <a:t>AI that corrects the weather model’s rainfall forecast for the monsoon regime it is in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20040" y="1417320"/>
            <a:ext cx="5669280" cy="1664208"/>
          </a:xfrm>
          <a:prstGeom prst="roundRect">
            <a:avLst>
              <a:gd name="adj" fmla="val 3296"/>
            </a:avLst>
          </a:prstGeom>
          <a:solidFill>
            <a:srgbClr val="FFFFFF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Oval 15363"/>
          <p:cNvSpPr/>
          <p:nvPr/>
        </p:nvSpPr>
        <p:spPr>
          <a:xfrm>
            <a:off x="411479" y="1490472"/>
            <a:ext cx="292608" cy="292608"/>
          </a:xfrm>
          <a:prstGeom prst="ellips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5" name="Picture 15364" descr="w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53" y="1554845"/>
            <a:ext cx="163860" cy="163860"/>
          </a:xfrm>
          <a:prstGeom prst="rect">
            <a:avLst/>
          </a:prstGeom>
        </p:spPr>
      </p:pic>
      <p:sp>
        <p:nvSpPr>
          <p:cNvPr id="15366" name="TextBox 15365"/>
          <p:cNvSpPr txBox="1"/>
          <p:nvPr/>
        </p:nvSpPr>
        <p:spPr>
          <a:xfrm>
            <a:off x="777240" y="1481328"/>
            <a:ext cx="512064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D95926"/>
                </a:solidFill>
                <a:latin typeface="Calibri"/>
              </a:rPr>
              <a:t>PROBLEM DEFINITION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48056" y="1874519"/>
            <a:ext cx="5431536" cy="115214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400"/>
              </a:spcAft>
              <a:buClr>
                <a:srgbClr val="D95926"/>
              </a:buClr>
              <a:buFont typeface="Segoe UI Symbol"/>
              <a:buChar char="❖"/>
            </a:pPr>
            <a:r>
              <a:rPr sz="1050" b="0" i="0">
                <a:solidFill>
                  <a:srgbClr val="1F2937"/>
                </a:solidFill>
                <a:latin typeface="Calibri"/>
              </a:rPr>
              <a:t>NWP models rain on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too many days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 (52% of cell-days vs 37% observed) yet give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too few heavy-rain days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 (0.97% vs 1.45%)</a:t>
            </a:r>
          </a:p>
          <a:p>
            <a:pPr algn="l" marL="155448" indent="-155448">
              <a:spcAft>
                <a:spcPts val="400"/>
              </a:spcAft>
              <a:buClr>
                <a:srgbClr val="D95926"/>
              </a:buClr>
              <a:buFont typeface="Segoe UI Symbol"/>
              <a:buChar char="❖"/>
            </a:pPr>
            <a:r>
              <a:rPr sz="1050" b="0" i="0">
                <a:solidFill>
                  <a:srgbClr val="1F2937"/>
                </a:solidFill>
                <a:latin typeface="Calibri"/>
              </a:rPr>
              <a:t>The errors change with the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weather regime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 — active / break spells, monsoon depressions, Western Ghats orography — so one global bias correction fails</a:t>
            </a:r>
          </a:p>
          <a:p>
            <a:pPr algn="l" marL="155448" indent="-155448">
              <a:spcAft>
                <a:spcPts val="400"/>
              </a:spcAft>
              <a:buClr>
                <a:srgbClr val="D95926"/>
              </a:buClr>
              <a:buFont typeface="Segoe UI Symbol"/>
              <a:buChar char="❖"/>
            </a:pPr>
            <a:r>
              <a:rPr sz="1050" b="0" i="0">
                <a:solidFill>
                  <a:srgbClr val="1F2937"/>
                </a:solidFill>
                <a:latin typeface="Calibri"/>
              </a:rPr>
              <a:t>Disaster managers need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district heavy-rain warnings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, not raw 25 km grid numbers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172200" y="1417320"/>
            <a:ext cx="5696712" cy="1664208"/>
          </a:xfrm>
          <a:prstGeom prst="roundRect">
            <a:avLst>
              <a:gd name="adj" fmla="val 3296"/>
            </a:avLst>
          </a:prstGeom>
          <a:solidFill>
            <a:srgbClr val="FFFFFF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Oval 15368"/>
          <p:cNvSpPr/>
          <p:nvPr/>
        </p:nvSpPr>
        <p:spPr>
          <a:xfrm>
            <a:off x="6263640" y="1490472"/>
            <a:ext cx="292608" cy="292608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0" name="Picture 15369" descr="bu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013" y="1554845"/>
            <a:ext cx="163860" cy="163860"/>
          </a:xfrm>
          <a:prstGeom prst="rect">
            <a:avLst/>
          </a:prstGeom>
        </p:spPr>
      </p:pic>
      <p:sp>
        <p:nvSpPr>
          <p:cNvPr id="15371" name="TextBox 15370"/>
          <p:cNvSpPr txBox="1"/>
          <p:nvPr/>
        </p:nvSpPr>
        <p:spPr>
          <a:xfrm>
            <a:off x="6629400" y="1481328"/>
            <a:ext cx="514807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6FD1"/>
                </a:solidFill>
                <a:latin typeface="Calibri"/>
              </a:rPr>
              <a:t>IDEA / SOLUTION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6300216" y="1874519"/>
            <a:ext cx="5458968" cy="115214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400"/>
              </a:spcAft>
              <a:buClr>
                <a:srgbClr val="1F6FD1"/>
              </a:buClr>
              <a:buFont typeface="Segoe UI Symbol"/>
              <a:buChar char="❖"/>
            </a:pPr>
            <a:r>
              <a:rPr sz="1050" b="0" i="0">
                <a:solidFill>
                  <a:srgbClr val="1F2937"/>
                </a:solidFill>
                <a:latin typeface="Calibri"/>
              </a:rPr>
              <a:t>An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AI post-processing layer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 on the forecast NCMRWF already makes — it corrects, never replaces, the model</a:t>
            </a:r>
          </a:p>
          <a:p>
            <a:pPr algn="l" marL="155448" indent="-155448">
              <a:spcAft>
                <a:spcPts val="400"/>
              </a:spcAft>
              <a:buClr>
                <a:srgbClr val="1F6FD1"/>
              </a:buClr>
              <a:buFont typeface="Segoe UI Symbol"/>
              <a:buChar char="❖"/>
            </a:pPr>
            <a:r>
              <a:rPr sz="1050" b="0" i="0">
                <a:solidFill>
                  <a:srgbClr val="1F2937"/>
                </a:solidFill>
                <a:latin typeface="Calibri"/>
              </a:rPr>
              <a:t>Reads the forecast’s own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850 hPa wind, pressure &amp; moisture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 to identify the regime (Active / Break / Depression / Normal) plus orographic &amp; coastal zones</a:t>
            </a:r>
          </a:p>
          <a:p>
            <a:pPr algn="l" marL="155448" indent="-155448">
              <a:spcAft>
                <a:spcPts val="400"/>
              </a:spcAft>
              <a:buClr>
                <a:srgbClr val="1F6FD1"/>
              </a:buClr>
              <a:buFont typeface="Segoe UI Symbol"/>
              <a:buChar char="❖"/>
            </a:pPr>
            <a:r>
              <a:rPr sz="1050" b="1" i="0">
                <a:solidFill>
                  <a:srgbClr val="1F2937"/>
                </a:solidFill>
                <a:latin typeface="Calibri"/>
              </a:rPr>
              <a:t>Regime-aware correction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 (LightGBM + U-Net),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heavy-rain probabilities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 and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641 district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 forecasts with explanations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320040" y="3172968"/>
            <a:ext cx="11548872" cy="1188720"/>
          </a:xfrm>
          <a:prstGeom prst="roundRect">
            <a:avLst>
              <a:gd name="adj" fmla="val 4615"/>
            </a:avLst>
          </a:prstGeom>
          <a:solidFill>
            <a:srgbClr val="EAF2FC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TextBox 15373"/>
          <p:cNvSpPr txBox="1"/>
          <p:nvPr/>
        </p:nvSpPr>
        <p:spPr>
          <a:xfrm>
            <a:off x="429768" y="3200400"/>
            <a:ext cx="274320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F6FD1"/>
                </a:solidFill>
                <a:latin typeface="Calibri"/>
              </a:rPr>
              <a:t>SYSTEM FLOW</a:t>
            </a:r>
          </a:p>
        </p:txBody>
      </p:sp>
      <p:sp>
        <p:nvSpPr>
          <p:cNvPr id="15375" name="Oval 15374"/>
          <p:cNvSpPr/>
          <p:nvPr/>
        </p:nvSpPr>
        <p:spPr>
          <a:xfrm>
            <a:off x="1022821" y="3401568"/>
            <a:ext cx="475488" cy="475488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6" name="Picture 15375" descr="cloud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429" y="3506175"/>
            <a:ext cx="266273" cy="266273"/>
          </a:xfrm>
          <a:prstGeom prst="rect">
            <a:avLst/>
          </a:prstGeom>
        </p:spPr>
      </p:pic>
      <p:sp>
        <p:nvSpPr>
          <p:cNvPr id="15377" name="TextBox 15376"/>
          <p:cNvSpPr txBox="1"/>
          <p:nvPr/>
        </p:nvSpPr>
        <p:spPr>
          <a:xfrm>
            <a:off x="457199" y="3904487"/>
            <a:ext cx="1606731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F2937"/>
                </a:solidFill>
                <a:latin typeface="Calibri"/>
              </a:rPr>
              <a:t>NWP forecast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(GEFS / NCUM)</a:t>
            </a:r>
          </a:p>
        </p:txBody>
      </p:sp>
      <p:cxnSp>
        <p:nvCxnSpPr>
          <p:cNvPr id="15378" name="Connector 15377"/>
          <p:cNvCxnSpPr/>
          <p:nvPr/>
        </p:nvCxnSpPr>
        <p:spPr>
          <a:xfrm>
            <a:off x="1562317" y="3639312"/>
            <a:ext cx="1003228" cy="0"/>
          </a:xfrm>
          <a:prstGeom prst="line">
            <a:avLst/>
          </a:prstGeom>
          <a:ln w="22225">
            <a:solidFill>
              <a:srgbClr val="1F6F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Oval 15378"/>
          <p:cNvSpPr/>
          <p:nvPr/>
        </p:nvSpPr>
        <p:spPr>
          <a:xfrm>
            <a:off x="2629553" y="3401568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0" name="Picture 15379" descr="bra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4160" y="3506175"/>
            <a:ext cx="266273" cy="266273"/>
          </a:xfrm>
          <a:prstGeom prst="rect">
            <a:avLst/>
          </a:prstGeom>
        </p:spPr>
      </p:pic>
      <p:sp>
        <p:nvSpPr>
          <p:cNvPr id="15381" name="TextBox 15380"/>
          <p:cNvSpPr txBox="1"/>
          <p:nvPr/>
        </p:nvSpPr>
        <p:spPr>
          <a:xfrm>
            <a:off x="2063931" y="3904487"/>
            <a:ext cx="1606731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F2937"/>
                </a:solidFill>
                <a:latin typeface="Calibri"/>
              </a:rPr>
              <a:t>Regime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classifier</a:t>
            </a:r>
          </a:p>
        </p:txBody>
      </p:sp>
      <p:cxnSp>
        <p:nvCxnSpPr>
          <p:cNvPr id="15382" name="Connector 15381"/>
          <p:cNvCxnSpPr/>
          <p:nvPr/>
        </p:nvCxnSpPr>
        <p:spPr>
          <a:xfrm>
            <a:off x="3169049" y="3639312"/>
            <a:ext cx="1003227" cy="0"/>
          </a:xfrm>
          <a:prstGeom prst="line">
            <a:avLst/>
          </a:prstGeom>
          <a:ln w="22225">
            <a:solidFill>
              <a:srgbClr val="1F6F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3" name="Oval 15382"/>
          <p:cNvSpPr/>
          <p:nvPr/>
        </p:nvSpPr>
        <p:spPr>
          <a:xfrm>
            <a:off x="4236284" y="3401568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4" name="Picture 15383" descr="slid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0891" y="3506175"/>
            <a:ext cx="266273" cy="266273"/>
          </a:xfrm>
          <a:prstGeom prst="rect">
            <a:avLst/>
          </a:prstGeom>
        </p:spPr>
      </p:pic>
      <p:sp>
        <p:nvSpPr>
          <p:cNvPr id="15385" name="TextBox 15384"/>
          <p:cNvSpPr txBox="1"/>
          <p:nvPr/>
        </p:nvSpPr>
        <p:spPr>
          <a:xfrm>
            <a:off x="3670662" y="3904487"/>
            <a:ext cx="1606731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F2937"/>
                </a:solidFill>
                <a:latin typeface="Calibri"/>
              </a:rPr>
              <a:t>Regime-aware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correction</a:t>
            </a:r>
          </a:p>
        </p:txBody>
      </p:sp>
      <p:cxnSp>
        <p:nvCxnSpPr>
          <p:cNvPr id="15386" name="Connector 15385"/>
          <p:cNvCxnSpPr/>
          <p:nvPr/>
        </p:nvCxnSpPr>
        <p:spPr>
          <a:xfrm>
            <a:off x="4775780" y="3639312"/>
            <a:ext cx="1003228" cy="0"/>
          </a:xfrm>
          <a:prstGeom prst="line">
            <a:avLst/>
          </a:prstGeom>
          <a:ln w="22225">
            <a:solidFill>
              <a:srgbClr val="1F6F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7" name="Oval 15386"/>
          <p:cNvSpPr/>
          <p:nvPr/>
        </p:nvSpPr>
        <p:spPr>
          <a:xfrm>
            <a:off x="5843016" y="3401568"/>
            <a:ext cx="475488" cy="475488"/>
          </a:xfrm>
          <a:prstGeom prst="ellips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8" name="Picture 15387" descr="heavyra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7623" y="3506175"/>
            <a:ext cx="266273" cy="266273"/>
          </a:xfrm>
          <a:prstGeom prst="rect">
            <a:avLst/>
          </a:prstGeom>
        </p:spPr>
      </p:pic>
      <p:sp>
        <p:nvSpPr>
          <p:cNvPr id="15389" name="TextBox 15388"/>
          <p:cNvSpPr txBox="1"/>
          <p:nvPr/>
        </p:nvSpPr>
        <p:spPr>
          <a:xfrm>
            <a:off x="5277394" y="3904487"/>
            <a:ext cx="1606731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F2937"/>
                </a:solidFill>
                <a:latin typeface="Calibri"/>
              </a:rPr>
              <a:t>Heavy-rain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probability</a:t>
            </a:r>
          </a:p>
        </p:txBody>
      </p:sp>
      <p:cxnSp>
        <p:nvCxnSpPr>
          <p:cNvPr id="15390" name="Connector 15389"/>
          <p:cNvCxnSpPr/>
          <p:nvPr/>
        </p:nvCxnSpPr>
        <p:spPr>
          <a:xfrm>
            <a:off x="6382512" y="3639312"/>
            <a:ext cx="1003227" cy="0"/>
          </a:xfrm>
          <a:prstGeom prst="line">
            <a:avLst/>
          </a:prstGeom>
          <a:ln w="22225">
            <a:solidFill>
              <a:srgbClr val="1F6F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1" name="Oval 15390"/>
          <p:cNvSpPr/>
          <p:nvPr/>
        </p:nvSpPr>
        <p:spPr>
          <a:xfrm>
            <a:off x="7449747" y="3401568"/>
            <a:ext cx="475488" cy="475488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92" name="Picture 15391" descr="mapdo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4354" y="3506175"/>
            <a:ext cx="266273" cy="266273"/>
          </a:xfrm>
          <a:prstGeom prst="rect">
            <a:avLst/>
          </a:prstGeom>
        </p:spPr>
      </p:pic>
      <p:sp>
        <p:nvSpPr>
          <p:cNvPr id="15393" name="TextBox 15392"/>
          <p:cNvSpPr txBox="1"/>
          <p:nvPr/>
        </p:nvSpPr>
        <p:spPr>
          <a:xfrm>
            <a:off x="6884125" y="3904487"/>
            <a:ext cx="1606731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F2937"/>
                </a:solidFill>
                <a:latin typeface="Calibri"/>
              </a:rPr>
              <a:t>641 district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forecasts</a:t>
            </a:r>
          </a:p>
        </p:txBody>
      </p:sp>
      <p:cxnSp>
        <p:nvCxnSpPr>
          <p:cNvPr id="15394" name="Connector 15393"/>
          <p:cNvCxnSpPr/>
          <p:nvPr/>
        </p:nvCxnSpPr>
        <p:spPr>
          <a:xfrm>
            <a:off x="7989243" y="3639312"/>
            <a:ext cx="1003227" cy="0"/>
          </a:xfrm>
          <a:prstGeom prst="line">
            <a:avLst/>
          </a:prstGeom>
          <a:ln w="22225">
            <a:solidFill>
              <a:srgbClr val="1F6F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5" name="Oval 15394"/>
          <p:cNvSpPr/>
          <p:nvPr/>
        </p:nvSpPr>
        <p:spPr>
          <a:xfrm>
            <a:off x="9056478" y="3401568"/>
            <a:ext cx="475488" cy="475488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96" name="Picture 15395" descr="displa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61086" y="3506175"/>
            <a:ext cx="266273" cy="266273"/>
          </a:xfrm>
          <a:prstGeom prst="rect">
            <a:avLst/>
          </a:prstGeom>
        </p:spPr>
      </p:pic>
      <p:sp>
        <p:nvSpPr>
          <p:cNvPr id="15397" name="TextBox 15396"/>
          <p:cNvSpPr txBox="1"/>
          <p:nvPr/>
        </p:nvSpPr>
        <p:spPr>
          <a:xfrm>
            <a:off x="8490857" y="3904487"/>
            <a:ext cx="1606731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F2937"/>
                </a:solidFill>
                <a:latin typeface="Calibri"/>
              </a:rPr>
              <a:t>Dashboard ·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CSV · bulletin</a:t>
            </a:r>
          </a:p>
        </p:txBody>
      </p:sp>
      <p:cxnSp>
        <p:nvCxnSpPr>
          <p:cNvPr id="15398" name="Connector 15397"/>
          <p:cNvCxnSpPr/>
          <p:nvPr/>
        </p:nvCxnSpPr>
        <p:spPr>
          <a:xfrm>
            <a:off x="9595974" y="3639312"/>
            <a:ext cx="1003228" cy="0"/>
          </a:xfrm>
          <a:prstGeom prst="line">
            <a:avLst/>
          </a:prstGeom>
          <a:ln w="22225">
            <a:solidFill>
              <a:srgbClr val="1F6F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9" name="Oval 15398"/>
          <p:cNvSpPr/>
          <p:nvPr/>
        </p:nvSpPr>
        <p:spPr>
          <a:xfrm>
            <a:off x="10663210" y="3401568"/>
            <a:ext cx="475488" cy="475488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00" name="Picture 15399" descr="chec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67817" y="3506175"/>
            <a:ext cx="266273" cy="266273"/>
          </a:xfrm>
          <a:prstGeom prst="rect">
            <a:avLst/>
          </a:prstGeom>
        </p:spPr>
      </p:pic>
      <p:sp>
        <p:nvSpPr>
          <p:cNvPr id="15401" name="TextBox 15400"/>
          <p:cNvSpPr txBox="1"/>
          <p:nvPr/>
        </p:nvSpPr>
        <p:spPr>
          <a:xfrm>
            <a:off x="10097588" y="3904487"/>
            <a:ext cx="1606731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F2937"/>
                </a:solidFill>
                <a:latin typeface="Calibri"/>
              </a:rPr>
              <a:t>Verified vs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IMD rainfall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320040" y="4453128"/>
            <a:ext cx="566928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3" name="Oval 15402"/>
          <p:cNvSpPr/>
          <p:nvPr/>
        </p:nvSpPr>
        <p:spPr>
          <a:xfrm>
            <a:off x="411479" y="4526280"/>
            <a:ext cx="292608" cy="292608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04" name="Picture 15403" descr="chec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5853" y="4590653"/>
            <a:ext cx="163860" cy="163860"/>
          </a:xfrm>
          <a:prstGeom prst="rect">
            <a:avLst/>
          </a:prstGeom>
        </p:spPr>
      </p:pic>
      <p:sp>
        <p:nvSpPr>
          <p:cNvPr id="15405" name="TextBox 15404"/>
          <p:cNvSpPr txBox="1"/>
          <p:nvPr/>
        </p:nvSpPr>
        <p:spPr>
          <a:xfrm>
            <a:off x="777240" y="4517136"/>
            <a:ext cx="512064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48A5B"/>
                </a:solidFill>
                <a:latin typeface="Calibri"/>
              </a:rPr>
              <a:t>PROBLEM RESOLUTION</a:t>
            </a:r>
          </a:p>
        </p:txBody>
      </p:sp>
      <p:sp>
        <p:nvSpPr>
          <p:cNvPr id="15406" name="TextBox 15405"/>
          <p:cNvSpPr txBox="1"/>
          <p:nvPr/>
        </p:nvSpPr>
        <p:spPr>
          <a:xfrm>
            <a:off x="448056" y="4910328"/>
            <a:ext cx="5431536" cy="129844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600"/>
              </a:spcAft>
              <a:buClr>
                <a:srgbClr val="148A5B"/>
              </a:buClr>
              <a:buFont typeface="Segoe UI Symbol"/>
              <a:buChar char="❖"/>
            </a:pPr>
            <a:r>
              <a:rPr sz="1100" b="0" i="0">
                <a:solidFill>
                  <a:srgbClr val="1F2937"/>
                </a:solidFill>
                <a:latin typeface="Calibri"/>
              </a:rPr>
              <a:t>Day-1 forecast error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−20%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on unseen test years (16.73 → 13.39 mm)</a:t>
            </a:r>
          </a:p>
          <a:p>
            <a:pPr algn="l" marL="155448" indent="-155448">
              <a:spcAft>
                <a:spcPts val="600"/>
              </a:spcAft>
              <a:buClr>
                <a:srgbClr val="148A5B"/>
              </a:buClr>
              <a:buFont typeface="Segoe UI Symbol"/>
              <a:buChar char="❖"/>
            </a:pPr>
            <a:r>
              <a:rPr sz="1100" b="0" i="0">
                <a:solidFill>
                  <a:srgbClr val="1F2937"/>
                </a:solidFill>
                <a:latin typeface="Calibri"/>
              </a:rPr>
              <a:t>Heavy-rain detection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AUC 0.56 → 0.90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; before the Kerala floods, Kottayam got a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61%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heavy-rain chance (base rate 1.4%)</a:t>
            </a:r>
          </a:p>
          <a:p>
            <a:pPr algn="l" marL="155448" indent="-155448">
              <a:spcAft>
                <a:spcPts val="600"/>
              </a:spcAft>
              <a:buClr>
                <a:srgbClr val="148A5B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Live mode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: today’s NOAA forecast → district product in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&lt; 1 min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, tested on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610 real daily forecasts</a:t>
            </a:r>
          </a:p>
        </p:txBody>
      </p:sp>
      <p:sp>
        <p:nvSpPr>
          <p:cNvPr id="15407" name="Rounded Rectangle 15406"/>
          <p:cNvSpPr/>
          <p:nvPr/>
        </p:nvSpPr>
        <p:spPr>
          <a:xfrm>
            <a:off x="6172200" y="4453128"/>
            <a:ext cx="5696712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8" name="Oval 15407"/>
          <p:cNvSpPr/>
          <p:nvPr/>
        </p:nvSpPr>
        <p:spPr>
          <a:xfrm>
            <a:off x="6263640" y="4526280"/>
            <a:ext cx="292608" cy="292608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09" name="Picture 15408" descr="targe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8013" y="4590653"/>
            <a:ext cx="163860" cy="163860"/>
          </a:xfrm>
          <a:prstGeom prst="rect">
            <a:avLst/>
          </a:prstGeom>
        </p:spPr>
      </p:pic>
      <p:sp>
        <p:nvSpPr>
          <p:cNvPr id="15410" name="TextBox 15409"/>
          <p:cNvSpPr txBox="1"/>
          <p:nvPr/>
        </p:nvSpPr>
        <p:spPr>
          <a:xfrm>
            <a:off x="6629400" y="4517136"/>
            <a:ext cx="514807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5B3FA8"/>
                </a:solidFill>
                <a:latin typeface="Calibri"/>
              </a:rPr>
              <a:t>UNIQUE VALUE PROPOSITION</a:t>
            </a:r>
          </a:p>
        </p:txBody>
      </p:sp>
      <p:sp>
        <p:nvSpPr>
          <p:cNvPr id="15411" name="TextBox 15410"/>
          <p:cNvSpPr txBox="1"/>
          <p:nvPr/>
        </p:nvSpPr>
        <p:spPr>
          <a:xfrm>
            <a:off x="6300216" y="4910328"/>
            <a:ext cx="5458968" cy="129844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500"/>
              </a:spcAft>
              <a:buClr>
                <a:srgbClr val="5B3FA8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Regime as probability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— the corrector sees the classifier’s uncertainty, not a hard guess</a:t>
            </a:r>
          </a:p>
          <a:p>
            <a:pPr algn="l" marL="155448" indent="-155448">
              <a:spcAft>
                <a:spcPts val="500"/>
              </a:spcAft>
              <a:buClr>
                <a:srgbClr val="5B3FA8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Honest by design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— one-time held-out test with locked model hashes; reports where it loses</a:t>
            </a:r>
          </a:p>
          <a:p>
            <a:pPr algn="l" marL="155448" indent="-155448">
              <a:spcAft>
                <a:spcPts val="500"/>
              </a:spcAft>
              <a:buClr>
                <a:srgbClr val="5B3FA8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Deep learning vs trees, head-to-head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— U-Net wins on heavy rain, LightGBM on bias</a:t>
            </a:r>
          </a:p>
          <a:p>
            <a:pPr algn="l" marL="155448" indent="-155448">
              <a:spcAft>
                <a:spcPts val="500"/>
              </a:spcAft>
              <a:buClr>
                <a:srgbClr val="5B3FA8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Offline, open data, laptop CPU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, English + Hindi — zero licence cost</a:t>
            </a:r>
          </a:p>
        </p:txBody>
      </p:sp>
      <p:sp>
        <p:nvSpPr>
          <p:cNvPr id="15412" name="TextBox 15411">
            <a:hlinkClick action="ppaction://hlinksldjump" r:id="rId14"/>
          </p:cNvPr>
          <p:cNvSpPr txBox="1"/>
          <p:nvPr/>
        </p:nvSpPr>
        <p:spPr>
          <a:xfrm>
            <a:off x="228600" y="6400800"/>
            <a:ext cx="516636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Title</a:t>
            </a:r>
          </a:p>
        </p:txBody>
      </p:sp>
      <p:sp>
        <p:nvSpPr>
          <p:cNvPr id="15413" name="TextBox 15412">
            <a:hlinkClick action="ppaction://hlinksldjump" r:id="rId15"/>
          </p:cNvPr>
          <p:cNvSpPr txBox="1"/>
          <p:nvPr/>
        </p:nvSpPr>
        <p:spPr>
          <a:xfrm>
            <a:off x="800100" y="6400800"/>
            <a:ext cx="438912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1" u="sng">
                <a:solidFill>
                  <a:srgbClr val="FFFFFF"/>
                </a:solidFill>
                <a:latin typeface="Calibri"/>
              </a:rPr>
              <a:t>Idea</a:t>
            </a:r>
          </a:p>
        </p:txBody>
      </p:sp>
      <p:sp>
        <p:nvSpPr>
          <p:cNvPr id="15414" name="TextBox 15413">
            <a:hlinkClick action="ppaction://hlinksldjump" r:id="rId16"/>
          </p:cNvPr>
          <p:cNvSpPr txBox="1"/>
          <p:nvPr/>
        </p:nvSpPr>
        <p:spPr>
          <a:xfrm>
            <a:off x="1293876" y="6400800"/>
            <a:ext cx="438912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Tech</a:t>
            </a:r>
          </a:p>
        </p:txBody>
      </p:sp>
      <p:sp>
        <p:nvSpPr>
          <p:cNvPr id="15415" name="TextBox 15414">
            <a:hlinkClick action="ppaction://hlinksldjump" r:id="rId17"/>
          </p:cNvPr>
          <p:cNvSpPr txBox="1"/>
          <p:nvPr/>
        </p:nvSpPr>
        <p:spPr>
          <a:xfrm>
            <a:off x="1787652" y="6400800"/>
            <a:ext cx="982980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Feasibility</a:t>
            </a:r>
          </a:p>
        </p:txBody>
      </p:sp>
      <p:sp>
        <p:nvSpPr>
          <p:cNvPr id="15416" name="TextBox 15415">
            <a:hlinkClick action="ppaction://hlinksldjump" r:id="rId18"/>
          </p:cNvPr>
          <p:cNvSpPr txBox="1"/>
          <p:nvPr/>
        </p:nvSpPr>
        <p:spPr>
          <a:xfrm>
            <a:off x="2825496" y="6400800"/>
            <a:ext cx="594360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5417" name="TextBox 15416">
            <a:hlinkClick action="ppaction://hlinksldjump" r:id="rId19"/>
          </p:cNvPr>
          <p:cNvSpPr txBox="1"/>
          <p:nvPr/>
        </p:nvSpPr>
        <p:spPr>
          <a:xfrm>
            <a:off x="3474720" y="6400800"/>
            <a:ext cx="749808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Research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SIH 2026 · PS 26080 · RegimeCast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3977639" cy="393192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Oval 17410"/>
          <p:cNvSpPr/>
          <p:nvPr/>
        </p:nvSpPr>
        <p:spPr>
          <a:xfrm>
            <a:off x="411479" y="1261872"/>
            <a:ext cx="292608" cy="292608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2" name="Picture 17411" descr="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53" y="1326245"/>
            <a:ext cx="163860" cy="163860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777240" y="1252728"/>
            <a:ext cx="3428999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6FD1"/>
                </a:solidFill>
                <a:latin typeface="Calibri"/>
              </a:rPr>
              <a:t>TECHNOLOGY USED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48056" y="1645920"/>
            <a:ext cx="3739896" cy="3419856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8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Data: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xarray · NetCDF · GRIB2 (ecCodes) · NOAA AWS Open Data</a:t>
            </a:r>
          </a:p>
          <a:p>
            <a:pPr algn="l" marL="155448" indent="-155448">
              <a:spcAft>
                <a:spcPts val="8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Geo: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GeoPandas · Shapely — 641 Census-2011 districts</a:t>
            </a:r>
          </a:p>
          <a:p>
            <a:pPr algn="l" marL="155448" indent="-155448">
              <a:spcAft>
                <a:spcPts val="8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Machine learning: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LightGBM — regime classifier, correctors, heavy-rain probability</a:t>
            </a:r>
          </a:p>
          <a:p>
            <a:pPr algn="l" marL="155448" indent="-155448">
              <a:spcAft>
                <a:spcPts val="8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Deep learning: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PyTorch U-Net corrector · CNN classifier (tested)</a:t>
            </a:r>
          </a:p>
          <a:p>
            <a:pPr algn="l" marL="155448" indent="-155448">
              <a:spcAft>
                <a:spcPts val="8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Verification: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RMSE · ETS · FSS · Brier · AUC · block bootstrap</a:t>
            </a:r>
          </a:p>
          <a:p>
            <a:pPr algn="l" marL="155448" indent="-155448">
              <a:spcAft>
                <a:spcPts val="8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Backend: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Python 3.12 · FastAPI · Pydantic</a:t>
            </a:r>
          </a:p>
          <a:p>
            <a:pPr algn="l" marL="155448" indent="-155448">
              <a:spcAft>
                <a:spcPts val="8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Frontend: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React · TypeScript · Leaflet offline maps · Hindi / English</a:t>
            </a:r>
          </a:p>
          <a:p>
            <a:pPr algn="l" marL="155448" indent="-155448">
              <a:spcAft>
                <a:spcPts val="8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Quality &amp; deploy: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179 automated tests · Docker · Git</a:t>
            </a:r>
          </a:p>
        </p:txBody>
      </p:sp>
      <p:pic>
        <p:nvPicPr>
          <p:cNvPr id="17415" name="Picture 17414" descr="logo_pyth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5285232"/>
            <a:ext cx="301752" cy="301752"/>
          </a:xfrm>
          <a:prstGeom prst="rect">
            <a:avLst/>
          </a:prstGeom>
        </p:spPr>
      </p:pic>
      <p:pic>
        <p:nvPicPr>
          <p:cNvPr id="17416" name="Picture 17415" descr="logo_pyto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5285232"/>
            <a:ext cx="301752" cy="301752"/>
          </a:xfrm>
          <a:prstGeom prst="rect">
            <a:avLst/>
          </a:prstGeom>
        </p:spPr>
      </p:pic>
      <p:pic>
        <p:nvPicPr>
          <p:cNvPr id="17417" name="Picture 17416" descr="logo_sklear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992" y="5285232"/>
            <a:ext cx="301752" cy="301752"/>
          </a:xfrm>
          <a:prstGeom prst="rect">
            <a:avLst/>
          </a:prstGeom>
        </p:spPr>
      </p:pic>
      <p:pic>
        <p:nvPicPr>
          <p:cNvPr id="17418" name="Picture 17417" descr="logo_pand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5607" y="5285232"/>
            <a:ext cx="301752" cy="301752"/>
          </a:xfrm>
          <a:prstGeom prst="rect">
            <a:avLst/>
          </a:prstGeom>
        </p:spPr>
      </p:pic>
      <p:pic>
        <p:nvPicPr>
          <p:cNvPr id="17419" name="Picture 17418" descr="logo_nump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2224" y="5285232"/>
            <a:ext cx="301752" cy="301752"/>
          </a:xfrm>
          <a:prstGeom prst="rect">
            <a:avLst/>
          </a:prstGeom>
        </p:spPr>
      </p:pic>
      <p:pic>
        <p:nvPicPr>
          <p:cNvPr id="17420" name="Picture 17419" descr="logo_fastap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48840" y="5285232"/>
            <a:ext cx="301752" cy="301752"/>
          </a:xfrm>
          <a:prstGeom prst="rect">
            <a:avLst/>
          </a:prstGeom>
        </p:spPr>
      </p:pic>
      <p:pic>
        <p:nvPicPr>
          <p:cNvPr id="17421" name="Picture 17420" descr="logo_reac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5456" y="5285232"/>
            <a:ext cx="301752" cy="301752"/>
          </a:xfrm>
          <a:prstGeom prst="rect">
            <a:avLst/>
          </a:prstGeom>
        </p:spPr>
      </p:pic>
      <p:pic>
        <p:nvPicPr>
          <p:cNvPr id="17422" name="Picture 17421" descr="logo_typescrip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62072" y="5285232"/>
            <a:ext cx="301752" cy="301752"/>
          </a:xfrm>
          <a:prstGeom prst="rect">
            <a:avLst/>
          </a:prstGeom>
        </p:spPr>
      </p:pic>
      <p:pic>
        <p:nvPicPr>
          <p:cNvPr id="17423" name="Picture 17422" descr="logo_leafle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18688" y="5285232"/>
            <a:ext cx="301752" cy="301752"/>
          </a:xfrm>
          <a:prstGeom prst="rect">
            <a:avLst/>
          </a:prstGeom>
        </p:spPr>
      </p:pic>
      <p:pic>
        <p:nvPicPr>
          <p:cNvPr id="17424" name="Picture 17423" descr="logo_v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75304" y="5285232"/>
            <a:ext cx="301752" cy="301752"/>
          </a:xfrm>
          <a:prstGeom prst="rect">
            <a:avLst/>
          </a:prstGeom>
        </p:spPr>
      </p:pic>
      <p:pic>
        <p:nvPicPr>
          <p:cNvPr id="17425" name="Picture 17424" descr="logo_pytes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1920" y="5285232"/>
            <a:ext cx="301752" cy="301752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320040" y="5705856"/>
            <a:ext cx="3977639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48A5B"/>
                </a:solidFill>
                <a:latin typeface="Calibri"/>
              </a:rPr>
              <a:t>✓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 Observations never used as model inputs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48A5B"/>
                </a:solidFill>
                <a:latin typeface="Calibri"/>
              </a:rPr>
              <a:t>✓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 Held-out years scored once, model files hashed</a:t>
            </a:r>
          </a:p>
        </p:txBody>
      </p:sp>
      <p:sp>
        <p:nvSpPr>
          <p:cNvPr id="17427" name="Oval 17426"/>
          <p:cNvSpPr/>
          <p:nvPr/>
        </p:nvSpPr>
        <p:spPr>
          <a:xfrm>
            <a:off x="4526280" y="1197864"/>
            <a:ext cx="274320" cy="274320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8" name="Picture 17427" descr="sitema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86630" y="1258214"/>
            <a:ext cx="153619" cy="153619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4864608" y="1188720"/>
            <a:ext cx="33192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6FD1"/>
                </a:solidFill>
                <a:latin typeface="Calibri"/>
              </a:rPr>
              <a:t>WORKFLOW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4773168" y="1810512"/>
            <a:ext cx="0" cy="4064508"/>
          </a:xfrm>
          <a:prstGeom prst="line">
            <a:avLst/>
          </a:prstGeom>
          <a:ln w="25400">
            <a:solidFill>
              <a:srgbClr val="9DB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Oval 17430"/>
          <p:cNvSpPr/>
          <p:nvPr/>
        </p:nvSpPr>
        <p:spPr>
          <a:xfrm>
            <a:off x="4572000" y="1627632"/>
            <a:ext cx="402336" cy="402336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2" name="Picture 17431" descr="clou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60513" y="1716145"/>
            <a:ext cx="225308" cy="225308"/>
          </a:xfrm>
          <a:prstGeom prst="rect">
            <a:avLst/>
          </a:prstGeom>
        </p:spPr>
      </p:pic>
      <p:sp>
        <p:nvSpPr>
          <p:cNvPr id="17433" name="TextBox 17432"/>
          <p:cNvSpPr txBox="1"/>
          <p:nvPr/>
        </p:nvSpPr>
        <p:spPr>
          <a:xfrm>
            <a:off x="5074920" y="1591056"/>
            <a:ext cx="3154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F6FD1"/>
                </a:solidFill>
                <a:latin typeface="Calibri"/>
              </a:rPr>
              <a:t>1. Ingest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074920" y="1819656"/>
            <a:ext cx="315468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NOAA GEFSv12 forecast + IMD 0.25-degree rainfall</a:t>
            </a:r>
          </a:p>
        </p:txBody>
      </p:sp>
      <p:sp>
        <p:nvSpPr>
          <p:cNvPr id="17435" name="Oval 17434"/>
          <p:cNvSpPr/>
          <p:nvPr/>
        </p:nvSpPr>
        <p:spPr>
          <a:xfrm>
            <a:off x="4572000" y="2208276"/>
            <a:ext cx="402336" cy="40233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6" name="Picture 17435" descr="gears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60513" y="2296789"/>
            <a:ext cx="225308" cy="225308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5074920" y="2171700"/>
            <a:ext cx="3154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E2761"/>
                </a:solidFill>
                <a:latin typeface="Calibri"/>
              </a:rPr>
              <a:t>2. Align &amp; validate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074920" y="2400300"/>
            <a:ext cx="315468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IMD 08:30 IST rain day · provenance tags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4572000" y="2788920"/>
            <a:ext cx="402336" cy="40233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0" name="Picture 17439" descr="brain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60513" y="2877433"/>
            <a:ext cx="225308" cy="225308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5074920" y="2752344"/>
            <a:ext cx="3154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E2761"/>
                </a:solidFill>
                <a:latin typeface="Calibri"/>
              </a:rPr>
              <a:t>3. Identify regime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074920" y="2980944"/>
            <a:ext cx="315468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LightGBM on 850 hPa wind, MSLP, moisture</a:t>
            </a:r>
          </a:p>
        </p:txBody>
      </p:sp>
      <p:sp>
        <p:nvSpPr>
          <p:cNvPr id="17443" name="Oval 17442"/>
          <p:cNvSpPr/>
          <p:nvPr/>
        </p:nvSpPr>
        <p:spPr>
          <a:xfrm>
            <a:off x="4572000" y="3369564"/>
            <a:ext cx="402336" cy="402336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4" name="Picture 17443" descr="sliders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660513" y="3458077"/>
            <a:ext cx="225308" cy="225308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5074920" y="3332988"/>
            <a:ext cx="3154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F6FD1"/>
                </a:solidFill>
                <a:latin typeface="Calibri"/>
              </a:rPr>
              <a:t>4. Correct rainfall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5074920" y="3561588"/>
            <a:ext cx="315468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LightGBM C1 · U-Net · quantile mapping</a:t>
            </a:r>
          </a:p>
        </p:txBody>
      </p:sp>
      <p:sp>
        <p:nvSpPr>
          <p:cNvPr id="17447" name="Oval 17446"/>
          <p:cNvSpPr/>
          <p:nvPr/>
        </p:nvSpPr>
        <p:spPr>
          <a:xfrm>
            <a:off x="4572000" y="3950208"/>
            <a:ext cx="402336" cy="402336"/>
          </a:xfrm>
          <a:prstGeom prst="ellips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8" name="Picture 17447" descr="heavyrai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660513" y="4038721"/>
            <a:ext cx="225308" cy="225308"/>
          </a:xfrm>
          <a:prstGeom prst="rect">
            <a:avLst/>
          </a:prstGeom>
        </p:spPr>
      </p:pic>
      <p:sp>
        <p:nvSpPr>
          <p:cNvPr id="17449" name="TextBox 17448"/>
          <p:cNvSpPr txBox="1"/>
          <p:nvPr/>
        </p:nvSpPr>
        <p:spPr>
          <a:xfrm>
            <a:off x="5074920" y="3913632"/>
            <a:ext cx="3154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D95926"/>
                </a:solidFill>
                <a:latin typeface="Calibri"/>
              </a:rPr>
              <a:t>5. Heavy-rain probability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074920" y="4142232"/>
            <a:ext cx="315468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P(≥64.5 mm) and P(≥115.6 mm)</a:t>
            </a:r>
          </a:p>
        </p:txBody>
      </p:sp>
      <p:sp>
        <p:nvSpPr>
          <p:cNvPr id="17451" name="Oval 17450"/>
          <p:cNvSpPr/>
          <p:nvPr/>
        </p:nvSpPr>
        <p:spPr>
          <a:xfrm>
            <a:off x="4572000" y="4530852"/>
            <a:ext cx="402336" cy="402336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2" name="Picture 17451" descr="mapdot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660513" y="4619365"/>
            <a:ext cx="225308" cy="225308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5074920" y="4494276"/>
            <a:ext cx="3154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48A5B"/>
                </a:solidFill>
                <a:latin typeface="Calibri"/>
              </a:rPr>
              <a:t>6. District forecast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5074920" y="4722876"/>
            <a:ext cx="315468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Area-weighted onto 641 districts</a:t>
            </a:r>
          </a:p>
        </p:txBody>
      </p:sp>
      <p:sp>
        <p:nvSpPr>
          <p:cNvPr id="17455" name="Oval 17454"/>
          <p:cNvSpPr/>
          <p:nvPr/>
        </p:nvSpPr>
        <p:spPr>
          <a:xfrm>
            <a:off x="4572000" y="5111496"/>
            <a:ext cx="402336" cy="40233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6" name="Picture 17455" descr="display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60513" y="5200009"/>
            <a:ext cx="225308" cy="225308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5074920" y="5074920"/>
            <a:ext cx="3154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5B3FA8"/>
                </a:solidFill>
                <a:latin typeface="Calibri"/>
              </a:rPr>
              <a:t>7. Serve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5074920" y="5303520"/>
            <a:ext cx="315468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FastAPI → dashboard · CSV · PDF bulletin</a:t>
            </a:r>
          </a:p>
        </p:txBody>
      </p:sp>
      <p:sp>
        <p:nvSpPr>
          <p:cNvPr id="17459" name="Oval 17458"/>
          <p:cNvSpPr/>
          <p:nvPr/>
        </p:nvSpPr>
        <p:spPr>
          <a:xfrm>
            <a:off x="4572000" y="5692140"/>
            <a:ext cx="402336" cy="402336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0" name="Picture 17459" descr="check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660513" y="5780653"/>
            <a:ext cx="225308" cy="225308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5074920" y="5655564"/>
            <a:ext cx="3154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48A5B"/>
                </a:solidFill>
                <a:latin typeface="Calibri"/>
              </a:rPr>
              <a:t>8. Verify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5074920" y="5884164"/>
            <a:ext cx="315468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Against IMD, with bootstrap confidence intervals</a:t>
            </a:r>
          </a:p>
        </p:txBody>
      </p:sp>
      <p:sp>
        <p:nvSpPr>
          <p:cNvPr id="17463" name="Oval 17462"/>
          <p:cNvSpPr/>
          <p:nvPr/>
        </p:nvSpPr>
        <p:spPr>
          <a:xfrm>
            <a:off x="8412480" y="1197864"/>
            <a:ext cx="274320" cy="274320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4" name="Picture 17463" descr="laptop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72830" y="1258214"/>
            <a:ext cx="153619" cy="153619"/>
          </a:xfrm>
          <a:prstGeom prst="rect">
            <a:avLst/>
          </a:prstGeom>
        </p:spPr>
      </p:pic>
      <p:sp>
        <p:nvSpPr>
          <p:cNvPr id="17465" name="TextBox 17464"/>
          <p:cNvSpPr txBox="1"/>
          <p:nvPr/>
        </p:nvSpPr>
        <p:spPr>
          <a:xfrm>
            <a:off x="8750807" y="1188720"/>
            <a:ext cx="3118103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48A5B"/>
                </a:solidFill>
                <a:latin typeface="Calibri"/>
              </a:rPr>
              <a:t>PROTOTYPE — RUNNING</a:t>
            </a:r>
          </a:p>
        </p:txBody>
      </p:sp>
      <p:pic>
        <p:nvPicPr>
          <p:cNvPr id="17466" name="Picture 17465" descr="kerala_p_heavy_max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12480" y="1554480"/>
            <a:ext cx="3456432" cy="2400300"/>
          </a:xfrm>
          <a:prstGeom prst="rect">
            <a:avLst/>
          </a:prstGeom>
          <a:ln w="12700">
            <a:solidFill>
              <a:srgbClr val="5B6475"/>
            </a:solidFill>
          </a:ln>
        </p:spPr>
      </p:pic>
      <p:sp>
        <p:nvSpPr>
          <p:cNvPr id="17467" name="TextBox 17466"/>
          <p:cNvSpPr txBox="1"/>
          <p:nvPr/>
        </p:nvSpPr>
        <p:spPr>
          <a:xfrm>
            <a:off x="8412480" y="3968496"/>
            <a:ext cx="3456432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5B6475"/>
                </a:solidFill>
                <a:latin typeface="Calibri"/>
              </a:rPr>
              <a:t>Dashboard · Kerala floods case (test year 2018)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8412480" y="4261104"/>
            <a:ext cx="3456432" cy="1261872"/>
          </a:xfrm>
          <a:prstGeom prst="roundRect">
            <a:avLst>
              <a:gd name="adj" fmla="val 4347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9" name="TextBox 17468"/>
          <p:cNvSpPr txBox="1"/>
          <p:nvPr/>
        </p:nvSpPr>
        <p:spPr>
          <a:xfrm>
            <a:off x="8503920" y="4315968"/>
            <a:ext cx="3291840" cy="11704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 i="0">
                <a:solidFill>
                  <a:srgbClr val="86EFAC"/>
                </a:solidFill>
                <a:latin typeface="Consolas"/>
              </a:rPr>
              <a:t>&gt; python scripts/run_live.py --latest</a:t>
            </a:r>
          </a:p>
          <a:p>
            <a:r>
              <a:rPr sz="800" b="0" i="0">
                <a:solidFill>
                  <a:srgbClr val="86EFAC"/>
                </a:solidFill>
                <a:latin typeface="Consolas"/>
              </a:rPr>
              <a:t>  --allow-out-of-season</a:t>
            </a:r>
          </a:p>
          <a:p>
            <a:r>
              <a:rPr sz="800" b="0" i="0">
                <a:solidFill>
                  <a:srgbClr val="CBD5E1"/>
                </a:solidFill>
                <a:latin typeface="Consolas"/>
              </a:rPr>
              <a:t>INFO downloaded 2026-09-28 in 16s</a:t>
            </a:r>
          </a:p>
          <a:p>
            <a:r>
              <a:rPr sz="800" b="0" i="0">
                <a:solidFill>
                  <a:srgbClr val="CBD5E1"/>
                </a:solidFill>
                <a:latin typeface="Consolas"/>
              </a:rPr>
              <a:t>INFO 2026-09-28 saved (29s total):</a:t>
            </a:r>
          </a:p>
          <a:p>
            <a:r>
              <a:rPr sz="800" b="0" i="0">
                <a:solidFill>
                  <a:srgbClr val="CBD5E1"/>
                </a:solidFill>
                <a:latin typeface="Consolas"/>
              </a:rPr>
              <a:t>  day-1 regime BREAK (84%),</a:t>
            </a:r>
          </a:p>
          <a:p>
            <a:r>
              <a:rPr sz="800" b="0" i="0">
                <a:solidFill>
                  <a:srgbClr val="CBD5E1"/>
                </a:solidFill>
                <a:latin typeface="Consolas"/>
              </a:rPr>
              <a:t>  verification: pending: IMD has not</a:t>
            </a:r>
          </a:p>
          <a:p>
            <a:r>
              <a:rPr sz="800" b="0" i="0">
                <a:solidFill>
                  <a:srgbClr val="CBD5E1"/>
                </a:solidFill>
                <a:latin typeface="Consolas"/>
              </a:rPr>
              <a:t>  published observations for these days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8412480" y="5577840"/>
            <a:ext cx="3456432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5B6475"/>
                </a:solidFill>
                <a:latin typeface="Calibri"/>
              </a:rPr>
              <a:t>Real terminal output: today’s NOAA forecast → district product in 29 s</a:t>
            </a:r>
          </a:p>
        </p:txBody>
      </p:sp>
      <p:sp>
        <p:nvSpPr>
          <p:cNvPr id="17471" name="TextBox 17470">
            <a:hlinkClick action="ppaction://hlinksldjump" r:id="rId27"/>
          </p:cNvPr>
          <p:cNvSpPr txBox="1"/>
          <p:nvPr/>
        </p:nvSpPr>
        <p:spPr>
          <a:xfrm>
            <a:off x="228600" y="6400800"/>
            <a:ext cx="516636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Title</a:t>
            </a:r>
          </a:p>
        </p:txBody>
      </p:sp>
      <p:sp>
        <p:nvSpPr>
          <p:cNvPr id="17472" name="TextBox 17471">
            <a:hlinkClick action="ppaction://hlinksldjump" r:id="rId28"/>
          </p:cNvPr>
          <p:cNvSpPr txBox="1"/>
          <p:nvPr/>
        </p:nvSpPr>
        <p:spPr>
          <a:xfrm>
            <a:off x="800100" y="6400800"/>
            <a:ext cx="438912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Idea</a:t>
            </a:r>
          </a:p>
        </p:txBody>
      </p:sp>
      <p:sp>
        <p:nvSpPr>
          <p:cNvPr id="17473" name="TextBox 17472">
            <a:hlinkClick action="ppaction://hlinksldjump" r:id="rId29"/>
          </p:cNvPr>
          <p:cNvSpPr txBox="1"/>
          <p:nvPr/>
        </p:nvSpPr>
        <p:spPr>
          <a:xfrm>
            <a:off x="1293876" y="6400800"/>
            <a:ext cx="438912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1" u="sng">
                <a:solidFill>
                  <a:srgbClr val="FFFFFF"/>
                </a:solidFill>
                <a:latin typeface="Calibri"/>
              </a:rPr>
              <a:t>Tech</a:t>
            </a:r>
          </a:p>
        </p:txBody>
      </p:sp>
      <p:sp>
        <p:nvSpPr>
          <p:cNvPr id="17474" name="TextBox 17473">
            <a:hlinkClick action="ppaction://hlinksldjump" r:id="rId30"/>
          </p:cNvPr>
          <p:cNvSpPr txBox="1"/>
          <p:nvPr/>
        </p:nvSpPr>
        <p:spPr>
          <a:xfrm>
            <a:off x="1787652" y="6400800"/>
            <a:ext cx="982980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Feasibility</a:t>
            </a:r>
          </a:p>
        </p:txBody>
      </p:sp>
      <p:sp>
        <p:nvSpPr>
          <p:cNvPr id="17475" name="TextBox 17474">
            <a:hlinkClick action="ppaction://hlinksldjump" r:id="rId31"/>
          </p:cNvPr>
          <p:cNvSpPr txBox="1"/>
          <p:nvPr/>
        </p:nvSpPr>
        <p:spPr>
          <a:xfrm>
            <a:off x="2825496" y="6400800"/>
            <a:ext cx="594360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7476" name="TextBox 17475">
            <a:hlinkClick action="ppaction://hlinksldjump" r:id="rId32"/>
          </p:cNvPr>
          <p:cNvSpPr txBox="1"/>
          <p:nvPr/>
        </p:nvSpPr>
        <p:spPr>
          <a:xfrm>
            <a:off x="3474720" y="6400800"/>
            <a:ext cx="749808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Research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SIH 2026 · PS 26080 · RegimeCast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7360920" cy="1874519"/>
          </a:xfrm>
          <a:prstGeom prst="roundRect">
            <a:avLst>
              <a:gd name="adj" fmla="val 2926"/>
            </a:avLst>
          </a:prstGeom>
          <a:solidFill>
            <a:srgbClr val="FFFFFF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Oval 17410"/>
          <p:cNvSpPr/>
          <p:nvPr/>
        </p:nvSpPr>
        <p:spPr>
          <a:xfrm>
            <a:off x="411479" y="1261872"/>
            <a:ext cx="292608" cy="292608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2" name="Picture 17411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53" y="1326245"/>
            <a:ext cx="163860" cy="163860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777240" y="1252728"/>
            <a:ext cx="68122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6FD1"/>
                </a:solidFill>
                <a:latin typeface="Calibri"/>
              </a:rPr>
              <a:t>FEASIBILITY ASSESSMENT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48056" y="1645920"/>
            <a:ext cx="7123176" cy="1362455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6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Technical: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built and running end-to-end on real data — 16 training seasons, 29.1 M forecast–observation pairs, 179 automated tests</a:t>
            </a:r>
          </a:p>
          <a:p>
            <a:pPr algn="l" marL="155448" indent="-155448">
              <a:spcAft>
                <a:spcPts val="6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Operational: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live mode turns today’s forecast into district products in &lt; 1 min; offline dashboard; one-command Docker</a:t>
            </a:r>
          </a:p>
          <a:p>
            <a:pPr algn="l" marL="155448" indent="-155448">
              <a:spcAft>
                <a:spcPts val="6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Economic: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open data (NOAA, IMD) and open-source stack on a laptop CPU — no GPU, zero licence cost</a:t>
            </a:r>
          </a:p>
          <a:p>
            <a:pPr algn="l" marL="155448" indent="-155448">
              <a:spcAft>
                <a:spcPts val="600"/>
              </a:spcAft>
              <a:buClr>
                <a:srgbClr val="1F6FD1"/>
              </a:buClr>
              <a:buFont typeface="Segoe UI Symbol"/>
              <a:buChar char="❖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Social: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 English / Hindi interface, district CSV and printable bulletins for disaster managers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863840" y="1188720"/>
            <a:ext cx="1975104" cy="896112"/>
          </a:xfrm>
          <a:prstGeom prst="roundRect">
            <a:avLst>
              <a:gd name="adj" fmla="val 8163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7863840" y="1234440"/>
            <a:ext cx="1975104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1F6FD1"/>
                </a:solidFill>
                <a:latin typeface="Calibri"/>
              </a:rPr>
              <a:t>18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7918704" y="1673352"/>
            <a:ext cx="1865376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monsoon seasons (2000–17)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9893808" y="1188720"/>
            <a:ext cx="1975104" cy="896112"/>
          </a:xfrm>
          <a:prstGeom prst="roundRect">
            <a:avLst>
              <a:gd name="adj" fmla="val 8163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9893808" y="1234440"/>
            <a:ext cx="1975104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1E2761"/>
                </a:solidFill>
                <a:latin typeface="Calibri"/>
              </a:rPr>
              <a:t>29.1 M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948672" y="1673352"/>
            <a:ext cx="1865376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training pairs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7863840" y="2148840"/>
            <a:ext cx="1975104" cy="896112"/>
          </a:xfrm>
          <a:prstGeom prst="roundRect">
            <a:avLst>
              <a:gd name="adj" fmla="val 8163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7863840" y="2194560"/>
            <a:ext cx="1975104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148A5B"/>
                </a:solidFill>
                <a:latin typeface="Calibri"/>
              </a:rPr>
              <a:t>641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918704" y="2633472"/>
            <a:ext cx="1865376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districts covered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9893808" y="2148840"/>
            <a:ext cx="1975104" cy="896112"/>
          </a:xfrm>
          <a:prstGeom prst="roundRect">
            <a:avLst>
              <a:gd name="adj" fmla="val 8163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9893808" y="2194560"/>
            <a:ext cx="1975104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D95926"/>
                </a:solidFill>
                <a:latin typeface="Calibri"/>
              </a:rPr>
              <a:t>179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948672" y="2633472"/>
            <a:ext cx="1865376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automated tests passing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3200400"/>
            <a:ext cx="5257800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Oval 17427"/>
          <p:cNvSpPr/>
          <p:nvPr/>
        </p:nvSpPr>
        <p:spPr>
          <a:xfrm>
            <a:off x="411479" y="3273552"/>
            <a:ext cx="292608" cy="292608"/>
          </a:xfrm>
          <a:prstGeom prst="ellips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9" name="Picture 17428" descr="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853" y="3337925"/>
            <a:ext cx="163860" cy="163860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777240" y="3264408"/>
            <a:ext cx="47091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D95926"/>
                </a:solidFill>
                <a:latin typeface="Calibri"/>
              </a:rPr>
              <a:t>POTENTIAL CHALLENGES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48056" y="3657600"/>
            <a:ext cx="5020056" cy="1591055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900"/>
              </a:spcAft>
              <a:buClr>
                <a:srgbClr val="D95926"/>
              </a:buClr>
              <a:buFont typeface="Segoe UI Symbol"/>
              <a:buChar char="❖"/>
            </a:pPr>
            <a:r>
              <a:rPr sz="1150" b="0" i="0">
                <a:solidFill>
                  <a:srgbClr val="1F2937"/>
                </a:solidFill>
                <a:latin typeface="Calibri"/>
              </a:rPr>
              <a:t>NCMRWF’s NCUM forecast archive is not public</a:t>
            </a:r>
          </a:p>
          <a:p>
            <a:pPr algn="l" marL="155448" indent="-155448">
              <a:spcAft>
                <a:spcPts val="900"/>
              </a:spcAft>
              <a:buClr>
                <a:srgbClr val="D95926"/>
              </a:buClr>
              <a:buFont typeface="Segoe UI Symbol"/>
              <a:buChar char="❖"/>
            </a:pPr>
            <a:r>
              <a:rPr sz="1150" b="0" i="0">
                <a:solidFill>
                  <a:srgbClr val="1F2937"/>
                </a:solidFill>
                <a:latin typeface="Calibri"/>
              </a:rPr>
              <a:t>Daily operational forecasts differ from the training archive (tree correctors run ~1.2 mm too dry)</a:t>
            </a:r>
          </a:p>
          <a:p>
            <a:pPr algn="l" marL="155448" indent="-155448">
              <a:spcAft>
                <a:spcPts val="900"/>
              </a:spcAft>
              <a:buClr>
                <a:srgbClr val="D95926"/>
              </a:buClr>
              <a:buFont typeface="Segoe UI Symbol"/>
              <a:buChar char="❖"/>
            </a:pPr>
            <a:r>
              <a:rPr sz="1150" b="0" i="0">
                <a:solidFill>
                  <a:srgbClr val="1F2937"/>
                </a:solidFill>
                <a:latin typeface="Calibri"/>
              </a:rPr>
              <a:t>Rainfall-amount forecasts under-forecast extremes</a:t>
            </a:r>
          </a:p>
          <a:p>
            <a:pPr algn="l" marL="155448" indent="-155448">
              <a:spcAft>
                <a:spcPts val="900"/>
              </a:spcAft>
              <a:buClr>
                <a:srgbClr val="D95926"/>
              </a:buClr>
              <a:buFont typeface="Segoe UI Symbol"/>
              <a:buChar char="❖"/>
            </a:pPr>
            <a:r>
              <a:rPr sz="1150" b="0" i="0">
                <a:solidFill>
                  <a:srgbClr val="1F2937"/>
                </a:solidFill>
                <a:latin typeface="Calibri"/>
              </a:rPr>
              <a:t>Models are trained for June–September only</a:t>
            </a:r>
          </a:p>
        </p:txBody>
      </p:sp>
      <p:sp>
        <p:nvSpPr>
          <p:cNvPr id="17432" name="Right Arrow 17431"/>
          <p:cNvSpPr/>
          <p:nvPr/>
        </p:nvSpPr>
        <p:spPr>
          <a:xfrm>
            <a:off x="5669280" y="3931920"/>
            <a:ext cx="502920" cy="640080"/>
          </a:xfrm>
          <a:prstGeom prst="rightArrow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6263640" y="3200400"/>
            <a:ext cx="5605272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6355079" y="3273552"/>
            <a:ext cx="292608" cy="292608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5" name="Picture 17434" descr="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453" y="3337925"/>
            <a:ext cx="163860" cy="163860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6720840" y="3264408"/>
            <a:ext cx="505663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48A5B"/>
                </a:solidFill>
                <a:latin typeface="Calibri"/>
              </a:rPr>
              <a:t>MITIGATION STRATEGIES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391655" y="3657600"/>
            <a:ext cx="5367528" cy="1591055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900"/>
              </a:spcAft>
              <a:buClr>
                <a:srgbClr val="148A5B"/>
              </a:buClr>
              <a:buFont typeface="Segoe UI Symbol"/>
              <a:buChar char="➜"/>
            </a:pPr>
            <a:r>
              <a:rPr sz="1150" b="0" i="0">
                <a:solidFill>
                  <a:srgbClr val="1F2937"/>
                </a:solidFill>
                <a:latin typeface="Calibri"/>
              </a:rPr>
              <a:t>Validated on NOAA GEFS; NCUM plugs into the same adapter and retrains</a:t>
            </a:r>
          </a:p>
          <a:p>
            <a:pPr algn="l" marL="155448" indent="-155448">
              <a:spcAft>
                <a:spcPts val="900"/>
              </a:spcAft>
              <a:buClr>
                <a:srgbClr val="148A5B"/>
              </a:buClr>
              <a:buFont typeface="Segoe UI Symbol"/>
              <a:buChar char="➜"/>
            </a:pPr>
            <a:r>
              <a:rPr sz="1150" b="0" i="0">
                <a:solidFill>
                  <a:srgbClr val="1F2937"/>
                </a:solidFill>
                <a:latin typeface="Calibri"/>
              </a:rPr>
              <a:t>U-Net layer is nearly unbiased on live forecasts; retrain on 2021–25 operational seasons</a:t>
            </a:r>
          </a:p>
          <a:p>
            <a:pPr algn="l" marL="155448" indent="-155448">
              <a:spcAft>
                <a:spcPts val="900"/>
              </a:spcAft>
              <a:buClr>
                <a:srgbClr val="148A5B"/>
              </a:buClr>
              <a:buFont typeface="Segoe UI Symbol"/>
              <a:buChar char="➜"/>
            </a:pPr>
            <a:r>
              <a:rPr sz="1150" b="0" i="0">
                <a:solidFill>
                  <a:srgbClr val="1F2937"/>
                </a:solidFill>
                <a:latin typeface="Calibri"/>
              </a:rPr>
              <a:t>Heavy-rain probability layer catches extremes (AUC 0.90 on test years)</a:t>
            </a:r>
          </a:p>
          <a:p>
            <a:pPr algn="l" marL="155448" indent="-155448">
              <a:spcAft>
                <a:spcPts val="900"/>
              </a:spcAft>
              <a:buClr>
                <a:srgbClr val="148A5B"/>
              </a:buClr>
              <a:buFont typeface="Segoe UI Symbol"/>
              <a:buChar char="➜"/>
            </a:pPr>
            <a:r>
              <a:rPr sz="1150" b="0" i="0">
                <a:solidFill>
                  <a:srgbClr val="1F2937"/>
                </a:solidFill>
                <a:latin typeface="Calibri"/>
              </a:rPr>
              <a:t>Season guard with a visible warning; extend training months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320040" y="5468112"/>
            <a:ext cx="1188720" cy="7315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F6FD1"/>
                </a:solidFill>
                <a:latin typeface="Calibri"/>
              </a:rPr>
              <a:t>VIABILITY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F6FD1"/>
                </a:solidFill>
                <a:latin typeface="Calibri"/>
              </a:rPr>
              <a:t>path to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F6FD1"/>
                </a:solidFill>
                <a:latin typeface="Calibri"/>
              </a:rPr>
              <a:t>operations</a:t>
            </a:r>
          </a:p>
        </p:txBody>
      </p:sp>
      <p:sp>
        <p:nvSpPr>
          <p:cNvPr id="17439" name="Pentagon 17438"/>
          <p:cNvSpPr/>
          <p:nvPr/>
        </p:nvSpPr>
        <p:spPr>
          <a:xfrm>
            <a:off x="1554480" y="5468112"/>
            <a:ext cx="2633472" cy="749808"/>
          </a:xfrm>
          <a:prstGeom prst="homePlat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1737360" y="5504688"/>
            <a:ext cx="2057400" cy="6766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① Prototype ✓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validated + held-out test</a:t>
            </a:r>
          </a:p>
        </p:txBody>
      </p:sp>
      <p:sp>
        <p:nvSpPr>
          <p:cNvPr id="17441" name="Chevron 17440"/>
          <p:cNvSpPr/>
          <p:nvPr/>
        </p:nvSpPr>
        <p:spPr>
          <a:xfrm>
            <a:off x="4114800" y="5468112"/>
            <a:ext cx="2633472" cy="749808"/>
          </a:xfrm>
          <a:prstGeom prst="chevron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TextBox 17441"/>
          <p:cNvSpPr txBox="1"/>
          <p:nvPr/>
        </p:nvSpPr>
        <p:spPr>
          <a:xfrm>
            <a:off x="4498848" y="5504688"/>
            <a:ext cx="2057400" cy="6766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② Live mode ✓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610 real NOAA forecasts</a:t>
            </a:r>
          </a:p>
        </p:txBody>
      </p:sp>
      <p:sp>
        <p:nvSpPr>
          <p:cNvPr id="17443" name="Chevron 17442"/>
          <p:cNvSpPr/>
          <p:nvPr/>
        </p:nvSpPr>
        <p:spPr>
          <a:xfrm>
            <a:off x="6675120" y="5468112"/>
            <a:ext cx="2633472" cy="749808"/>
          </a:xfrm>
          <a:prstGeom prst="chevron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7059168" y="5504688"/>
            <a:ext cx="2057400" cy="6766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③ NCMRWF data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NCUM / NEPS retrain</a:t>
            </a:r>
          </a:p>
        </p:txBody>
      </p:sp>
      <p:sp>
        <p:nvSpPr>
          <p:cNvPr id="17445" name="Chevron 17444"/>
          <p:cNvSpPr/>
          <p:nvPr/>
        </p:nvSpPr>
        <p:spPr>
          <a:xfrm>
            <a:off x="9235439" y="5468112"/>
            <a:ext cx="2633472" cy="749808"/>
          </a:xfrm>
          <a:prstGeom prst="chevron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9619487" y="5504688"/>
            <a:ext cx="2057400" cy="6766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④ Daily operations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IMD / NCMRWF dashboards</a:t>
            </a:r>
          </a:p>
        </p:txBody>
      </p:sp>
      <p:sp>
        <p:nvSpPr>
          <p:cNvPr id="17447" name="TextBox 17446">
            <a:hlinkClick action="ppaction://hlinksldjump" r:id="rId7"/>
          </p:cNvPr>
          <p:cNvSpPr txBox="1"/>
          <p:nvPr/>
        </p:nvSpPr>
        <p:spPr>
          <a:xfrm>
            <a:off x="228600" y="6400800"/>
            <a:ext cx="516636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Title</a:t>
            </a:r>
          </a:p>
        </p:txBody>
      </p:sp>
      <p:sp>
        <p:nvSpPr>
          <p:cNvPr id="17448" name="TextBox 17447">
            <a:hlinkClick action="ppaction://hlinksldjump" r:id="rId8"/>
          </p:cNvPr>
          <p:cNvSpPr txBox="1"/>
          <p:nvPr/>
        </p:nvSpPr>
        <p:spPr>
          <a:xfrm>
            <a:off x="800100" y="6400800"/>
            <a:ext cx="438912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Idea</a:t>
            </a:r>
          </a:p>
        </p:txBody>
      </p:sp>
      <p:sp>
        <p:nvSpPr>
          <p:cNvPr id="17449" name="TextBox 17448">
            <a:hlinkClick action="ppaction://hlinksldjump" r:id="rId9"/>
          </p:cNvPr>
          <p:cNvSpPr txBox="1"/>
          <p:nvPr/>
        </p:nvSpPr>
        <p:spPr>
          <a:xfrm>
            <a:off x="1293876" y="6400800"/>
            <a:ext cx="438912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Tech</a:t>
            </a:r>
          </a:p>
        </p:txBody>
      </p:sp>
      <p:sp>
        <p:nvSpPr>
          <p:cNvPr id="17450" name="TextBox 17449">
            <a:hlinkClick action="ppaction://hlinksldjump" r:id="rId10"/>
          </p:cNvPr>
          <p:cNvSpPr txBox="1"/>
          <p:nvPr/>
        </p:nvSpPr>
        <p:spPr>
          <a:xfrm>
            <a:off x="1787652" y="6400800"/>
            <a:ext cx="982980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1" u="sng">
                <a:solidFill>
                  <a:srgbClr val="FFFFFF"/>
                </a:solidFill>
                <a:latin typeface="Calibri"/>
              </a:rPr>
              <a:t>Feasibility</a:t>
            </a:r>
          </a:p>
        </p:txBody>
      </p:sp>
      <p:sp>
        <p:nvSpPr>
          <p:cNvPr id="17451" name="TextBox 17450">
            <a:hlinkClick action="ppaction://hlinksldjump" r:id="rId11"/>
          </p:cNvPr>
          <p:cNvSpPr txBox="1"/>
          <p:nvPr/>
        </p:nvSpPr>
        <p:spPr>
          <a:xfrm>
            <a:off x="2825496" y="6400800"/>
            <a:ext cx="594360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7452" name="TextBox 17451">
            <a:hlinkClick action="ppaction://hlinksldjump" r:id="rId12"/>
          </p:cNvPr>
          <p:cNvSpPr txBox="1"/>
          <p:nvPr/>
        </p:nvSpPr>
        <p:spPr>
          <a:xfrm>
            <a:off x="3474720" y="6400800"/>
            <a:ext cx="749808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Research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SIH 2026 · PS 26080 · RegimeCast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0040" y="1179576"/>
            <a:ext cx="274320" cy="274320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1" name="Picture 17410" descr="chart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390" y="1239926"/>
            <a:ext cx="153619" cy="153619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58368" y="1170432"/>
            <a:ext cx="633679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6FD1"/>
                </a:solidFill>
                <a:latin typeface="Calibri"/>
              </a:rPr>
              <a:t>MEASURED IMPACT — unseen real data, scored once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3619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1554480"/>
            <a:ext cx="214884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D95926"/>
                </a:solidFill>
                <a:latin typeface="Calibri"/>
              </a:rPr>
              <a:t>0.56 → 0.90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93192" y="2011680"/>
            <a:ext cx="2002536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heavy-rain detection (ROC AUC), test years 2018–19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560320" y="153619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2560320" y="1554480"/>
            <a:ext cx="214884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6FD1"/>
                </a:solidFill>
                <a:latin typeface="Calibri"/>
              </a:rPr>
              <a:t>−20%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633472" y="2011680"/>
            <a:ext cx="2002536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day-1 error, test years 2018–19 (−12% on 610 live forecasts)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800600" y="153619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4800600" y="1554480"/>
            <a:ext cx="214884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48A5B"/>
                </a:solidFill>
                <a:latin typeface="Calibri"/>
              </a:rPr>
              <a:t>61%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873752" y="2011680"/>
            <a:ext cx="2002536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5B6475"/>
                </a:solidFill>
                <a:latin typeface="Calibri"/>
              </a:rPr>
              <a:t>heavy-rain chance flagged for Kottayam before the Kerala floods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20040" y="2587752"/>
            <a:ext cx="214884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F6FD1"/>
                </a:solidFill>
                <a:latin typeface="Calibri"/>
              </a:rPr>
              <a:t>BEFORE · raw forecast</a:t>
            </a:r>
          </a:p>
        </p:txBody>
      </p:sp>
      <p:pic>
        <p:nvPicPr>
          <p:cNvPr id="17423" name="Picture 17422" descr="kerala_map_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2834640"/>
            <a:ext cx="2148840" cy="2532561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2560320" y="2587752"/>
            <a:ext cx="214884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D95926"/>
                </a:solidFill>
                <a:latin typeface="Calibri"/>
              </a:rPr>
              <a:t>AFTER · our heavy-rain chance</a:t>
            </a:r>
          </a:p>
        </p:txBody>
      </p:sp>
      <p:pic>
        <p:nvPicPr>
          <p:cNvPr id="17425" name="Picture 17424" descr="kerala_map_he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2834640"/>
            <a:ext cx="2148840" cy="2532561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4800600" y="2587752"/>
            <a:ext cx="214884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48A5B"/>
                </a:solidFill>
                <a:latin typeface="Calibri"/>
              </a:rPr>
              <a:t>WHAT HAPPENED · IMD</a:t>
            </a:r>
          </a:p>
        </p:txBody>
      </p:sp>
      <p:pic>
        <p:nvPicPr>
          <p:cNvPr id="17427" name="Picture 17426" descr="kerala_map_observ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2834640"/>
            <a:ext cx="2148840" cy="2532561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320040" y="5422392"/>
            <a:ext cx="6629400" cy="84124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F2937"/>
                </a:solidFill>
                <a:latin typeface="Calibri"/>
              </a:rPr>
              <a:t>Kerala floods</a:t>
            </a:r>
            <a:r>
              <a:rPr sz="950" b="0" i="0">
                <a:solidFill>
                  <a:srgbClr val="1F2937"/>
                </a:solidFill>
                <a:latin typeface="Calibri"/>
              </a:rPr>
              <a:t> · rain day ending 08:30 IST, 16 Aug 2018 (test year), forecast issued 15 Aug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Kottayam: raw </a:t>
            </a:r>
            <a:r>
              <a:rPr sz="950" b="1" i="0">
                <a:solidFill>
                  <a:srgbClr val="1F2937"/>
                </a:solidFill>
                <a:latin typeface="Calibri"/>
              </a:rPr>
              <a:t>95 mm</a:t>
            </a:r>
            <a:r>
              <a:rPr sz="950" b="0" i="0">
                <a:solidFill>
                  <a:srgbClr val="1F2937"/>
                </a:solidFill>
                <a:latin typeface="Calibri"/>
              </a:rPr>
              <a:t> · regime-aware </a:t>
            </a:r>
            <a:r>
              <a:rPr sz="950" b="1" i="0">
                <a:solidFill>
                  <a:srgbClr val="1F2937"/>
                </a:solidFill>
                <a:latin typeface="Calibri"/>
              </a:rPr>
              <a:t>62</a:t>
            </a:r>
            <a:r>
              <a:rPr sz="950" b="0" i="0">
                <a:solidFill>
                  <a:srgbClr val="1F2937"/>
                </a:solidFill>
                <a:latin typeface="Calibri"/>
              </a:rPr>
              <a:t> · U-Net </a:t>
            </a:r>
            <a:r>
              <a:rPr sz="950" b="1" i="0">
                <a:solidFill>
                  <a:srgbClr val="1F2937"/>
                </a:solidFill>
                <a:latin typeface="Calibri"/>
              </a:rPr>
              <a:t>75</a:t>
            </a:r>
            <a:r>
              <a:rPr sz="950" b="0" i="0">
                <a:solidFill>
                  <a:srgbClr val="1F2937"/>
                </a:solidFill>
                <a:latin typeface="Calibri"/>
              </a:rPr>
              <a:t> · observed </a:t>
            </a:r>
            <a:r>
              <a:rPr sz="950" b="1" i="0">
                <a:solidFill>
                  <a:srgbClr val="148A5B"/>
                </a:solidFill>
                <a:latin typeface="Calibri"/>
              </a:rPr>
              <a:t>210 mm</a:t>
            </a:r>
            <a:r>
              <a:rPr sz="950" b="0" i="0">
                <a:solidFill>
                  <a:srgbClr val="1F2937"/>
                </a:solidFill>
                <a:latin typeface="Calibri"/>
              </a:rPr>
              <a:t> — amounts fall short; the </a:t>
            </a:r>
            <a:r>
              <a:rPr sz="950" b="1" i="0">
                <a:solidFill>
                  <a:srgbClr val="D95926"/>
                </a:solidFill>
                <a:latin typeface="Calibri"/>
              </a:rPr>
              <a:t>probability layer flags 61%</a:t>
            </a:r>
          </a:p>
        </p:txBody>
      </p:sp>
      <p:sp>
        <p:nvSpPr>
          <p:cNvPr id="17429" name="Oval 17428"/>
          <p:cNvSpPr/>
          <p:nvPr/>
        </p:nvSpPr>
        <p:spPr>
          <a:xfrm>
            <a:off x="7223760" y="1179576"/>
            <a:ext cx="274320" cy="274320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0" name="Picture 17429" descr="targ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4110" y="1239926"/>
            <a:ext cx="153619" cy="153619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562088" y="1170432"/>
            <a:ext cx="4306824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6FD1"/>
                </a:solidFill>
                <a:latin typeface="Calibri"/>
              </a:rPr>
              <a:t>IMPACTS &amp; BENEFITS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223760" y="1536192"/>
            <a:ext cx="228600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5875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ectangle 17432"/>
          <p:cNvSpPr/>
          <p:nvPr/>
        </p:nvSpPr>
        <p:spPr>
          <a:xfrm>
            <a:off x="7242048" y="1554480"/>
            <a:ext cx="2249424" cy="329184"/>
          </a:xfrm>
          <a:prstGeom prst="rect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4" name="Picture 17433" descr="peop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0" y="1581912"/>
            <a:ext cx="274320" cy="274320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7644384" y="1563624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7296912" y="1920240"/>
            <a:ext cx="2157984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Earlier district heavy-rain warnings for flood &amp; landslide preparedness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9573768" y="1536192"/>
            <a:ext cx="228600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5875">
            <a:solidFill>
              <a:srgbClr val="14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ectangle 17437"/>
          <p:cNvSpPr/>
          <p:nvPr/>
        </p:nvSpPr>
        <p:spPr>
          <a:xfrm>
            <a:off x="9592056" y="1554480"/>
            <a:ext cx="2249424" cy="329184"/>
          </a:xfrm>
          <a:prstGeom prst="rect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9" name="Picture 17438" descr="rup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65208" y="1581912"/>
            <a:ext cx="274320" cy="274320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9994392" y="1563624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ECONOMIC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9646920" y="1920240"/>
            <a:ext cx="2157984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Calibrated odds for sowing, irrigation and reservoir decisions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7223760" y="2633472"/>
            <a:ext cx="228600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5875">
            <a:solidFill>
              <a:srgbClr val="12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Rectangle 17442"/>
          <p:cNvSpPr/>
          <p:nvPr/>
        </p:nvSpPr>
        <p:spPr>
          <a:xfrm>
            <a:off x="7242048" y="2651760"/>
            <a:ext cx="2249424" cy="32918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4" name="Picture 17443" descr="lea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15200" y="2679191"/>
            <a:ext cx="274320" cy="274320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7644384" y="2660903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ENVIRONMENTAL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7296912" y="3017520"/>
            <a:ext cx="2157984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Better water-resource management across monsoon spells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573768" y="2633472"/>
            <a:ext cx="228600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8" name="Rectangle 17447"/>
          <p:cNvSpPr/>
          <p:nvPr/>
        </p:nvSpPr>
        <p:spPr>
          <a:xfrm>
            <a:off x="9592056" y="2651760"/>
            <a:ext cx="2249424" cy="32918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9" name="Picture 17448" descr="gov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65208" y="2679191"/>
            <a:ext cx="274320" cy="274320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9994392" y="2660903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OPERATIONAL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9646920" y="3017520"/>
            <a:ext cx="2157984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Plugs onto existing NWP output — no new weather model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7223760" y="3730752"/>
            <a:ext cx="228600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5875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3" name="Rectangle 17452"/>
          <p:cNvSpPr/>
          <p:nvPr/>
        </p:nvSpPr>
        <p:spPr>
          <a:xfrm>
            <a:off x="7242048" y="3749039"/>
            <a:ext cx="2249424" cy="329184"/>
          </a:xfrm>
          <a:prstGeom prst="rect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4" name="Picture 17453" descr="chi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200" y="3776472"/>
            <a:ext cx="274320" cy="274320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7644384" y="3758184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TECHNOLOGICAL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7296912" y="4114800"/>
            <a:ext cx="2157984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Explainable AI: each forecast ships its drivers and score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9573768" y="3730752"/>
            <a:ext cx="228600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5875">
            <a:solidFill>
              <a:srgbClr val="1F6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Rectangle 17457"/>
          <p:cNvSpPr/>
          <p:nvPr/>
        </p:nvSpPr>
        <p:spPr>
          <a:xfrm>
            <a:off x="9592056" y="3749039"/>
            <a:ext cx="2249424" cy="329184"/>
          </a:xfrm>
          <a:prstGeom prst="rect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9" name="Picture 17458" descr="glob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5208" y="3776472"/>
            <a:ext cx="274320" cy="274320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9994392" y="3758184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NATIONAL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9646920" y="4114800"/>
            <a:ext cx="2157984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F2937"/>
                </a:solidFill>
                <a:latin typeface="Calibri"/>
              </a:rPr>
              <a:t>Indigenous open-data forecasting aid; supports UN SDG 13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7223760" y="4892040"/>
            <a:ext cx="4645152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Who benefits</a:t>
            </a:r>
          </a:p>
        </p:txBody>
      </p:sp>
      <p:sp>
        <p:nvSpPr>
          <p:cNvPr id="17463" name="Oval 17462"/>
          <p:cNvSpPr/>
          <p:nvPr/>
        </p:nvSpPr>
        <p:spPr>
          <a:xfrm>
            <a:off x="7461504" y="5175504"/>
            <a:ext cx="438912" cy="438912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4" name="Picture 17463" descr="gov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8064" y="5272064"/>
            <a:ext cx="245790" cy="245790"/>
          </a:xfrm>
          <a:prstGeom prst="rect">
            <a:avLst/>
          </a:prstGeom>
        </p:spPr>
      </p:pic>
      <p:sp>
        <p:nvSpPr>
          <p:cNvPr id="17465" name="TextBox 17464"/>
          <p:cNvSpPr txBox="1"/>
          <p:nvPr/>
        </p:nvSpPr>
        <p:spPr>
          <a:xfrm>
            <a:off x="7223760" y="5650992"/>
            <a:ext cx="932688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1F2937"/>
                </a:solidFill>
                <a:latin typeface="Calibri"/>
              </a:rPr>
              <a:t>IMD / NCMRWF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1F2937"/>
                </a:solidFill>
                <a:latin typeface="Calibri"/>
              </a:rPr>
              <a:t>forecasters</a:t>
            </a:r>
          </a:p>
        </p:txBody>
      </p:sp>
      <p:sp>
        <p:nvSpPr>
          <p:cNvPr id="17466" name="Oval 17465"/>
          <p:cNvSpPr/>
          <p:nvPr/>
        </p:nvSpPr>
        <p:spPr>
          <a:xfrm>
            <a:off x="8394192" y="5175504"/>
            <a:ext cx="438912" cy="438912"/>
          </a:xfrm>
          <a:prstGeom prst="ellips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7" name="Picture 17466" descr="floo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90752" y="5272064"/>
            <a:ext cx="245790" cy="245790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8156448" y="5650992"/>
            <a:ext cx="932688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1F2937"/>
                </a:solidFill>
                <a:latin typeface="Calibri"/>
              </a:rPr>
              <a:t>NDMA / SDMA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1F2937"/>
                </a:solidFill>
                <a:latin typeface="Calibri"/>
              </a:rPr>
              <a:t>disaster mgmt</a:t>
            </a:r>
          </a:p>
        </p:txBody>
      </p:sp>
      <p:sp>
        <p:nvSpPr>
          <p:cNvPr id="17469" name="Oval 17468"/>
          <p:cNvSpPr/>
          <p:nvPr/>
        </p:nvSpPr>
        <p:spPr>
          <a:xfrm>
            <a:off x="9326880" y="5175504"/>
            <a:ext cx="438912" cy="438912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0" name="Picture 17469" descr="tracto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23440" y="5272064"/>
            <a:ext cx="245790" cy="245790"/>
          </a:xfrm>
          <a:prstGeom prst="rect">
            <a:avLst/>
          </a:prstGeom>
        </p:spPr>
      </p:pic>
      <p:sp>
        <p:nvSpPr>
          <p:cNvPr id="17471" name="TextBox 17470"/>
          <p:cNvSpPr txBox="1"/>
          <p:nvPr/>
        </p:nvSpPr>
        <p:spPr>
          <a:xfrm>
            <a:off x="9089136" y="5650992"/>
            <a:ext cx="932688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1F2937"/>
                </a:solidFill>
                <a:latin typeface="Calibri"/>
              </a:rPr>
              <a:t>Farmers &amp;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1F2937"/>
                </a:solidFill>
                <a:latin typeface="Calibri"/>
              </a:rPr>
              <a:t>agri planners</a:t>
            </a:r>
          </a:p>
        </p:txBody>
      </p:sp>
      <p:sp>
        <p:nvSpPr>
          <p:cNvPr id="17472" name="Oval 17471"/>
          <p:cNvSpPr/>
          <p:nvPr/>
        </p:nvSpPr>
        <p:spPr>
          <a:xfrm>
            <a:off x="10259568" y="5175504"/>
            <a:ext cx="438912" cy="438912"/>
          </a:xfrm>
          <a:prstGeom prst="ellipse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3" name="Picture 17472" descr="wate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356128" y="5272064"/>
            <a:ext cx="245790" cy="245790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10021824" y="5650992"/>
            <a:ext cx="932688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1F2937"/>
                </a:solidFill>
                <a:latin typeface="Calibri"/>
              </a:rPr>
              <a:t>Reservoir &amp;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1F2937"/>
                </a:solidFill>
                <a:latin typeface="Calibri"/>
              </a:rPr>
              <a:t>water managers</a:t>
            </a:r>
          </a:p>
        </p:txBody>
      </p:sp>
      <p:sp>
        <p:nvSpPr>
          <p:cNvPr id="17475" name="Oval 17474"/>
          <p:cNvSpPr/>
          <p:nvPr/>
        </p:nvSpPr>
        <p:spPr>
          <a:xfrm>
            <a:off x="11192256" y="5175504"/>
            <a:ext cx="438912" cy="438912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6" name="Picture 17475" descr="users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288816" y="5272064"/>
            <a:ext cx="245790" cy="245790"/>
          </a:xfrm>
          <a:prstGeom prst="rect">
            <a:avLst/>
          </a:prstGeom>
        </p:spPr>
      </p:pic>
      <p:sp>
        <p:nvSpPr>
          <p:cNvPr id="17477" name="TextBox 17476"/>
          <p:cNvSpPr txBox="1"/>
          <p:nvPr/>
        </p:nvSpPr>
        <p:spPr>
          <a:xfrm>
            <a:off x="10954512" y="5650992"/>
            <a:ext cx="932688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1F2937"/>
                </a:solidFill>
                <a:latin typeface="Calibri"/>
              </a:rPr>
              <a:t>Citizens in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1F2937"/>
                </a:solidFill>
                <a:latin typeface="Calibri"/>
              </a:rPr>
              <a:t>flood-prone areas</a:t>
            </a:r>
          </a:p>
        </p:txBody>
      </p:sp>
      <p:sp>
        <p:nvSpPr>
          <p:cNvPr id="17478" name="TextBox 17477">
            <a:hlinkClick action="ppaction://hlinksldjump" r:id="rId19"/>
          </p:cNvPr>
          <p:cNvSpPr txBox="1"/>
          <p:nvPr/>
        </p:nvSpPr>
        <p:spPr>
          <a:xfrm>
            <a:off x="228600" y="6400800"/>
            <a:ext cx="516636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Title</a:t>
            </a:r>
          </a:p>
        </p:txBody>
      </p:sp>
      <p:sp>
        <p:nvSpPr>
          <p:cNvPr id="17479" name="TextBox 17478">
            <a:hlinkClick action="ppaction://hlinksldjump" r:id="rId20"/>
          </p:cNvPr>
          <p:cNvSpPr txBox="1"/>
          <p:nvPr/>
        </p:nvSpPr>
        <p:spPr>
          <a:xfrm>
            <a:off x="800100" y="6400800"/>
            <a:ext cx="438912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Idea</a:t>
            </a:r>
          </a:p>
        </p:txBody>
      </p:sp>
      <p:sp>
        <p:nvSpPr>
          <p:cNvPr id="17480" name="TextBox 17479">
            <a:hlinkClick action="ppaction://hlinksldjump" r:id="rId21"/>
          </p:cNvPr>
          <p:cNvSpPr txBox="1"/>
          <p:nvPr/>
        </p:nvSpPr>
        <p:spPr>
          <a:xfrm>
            <a:off x="1293876" y="6400800"/>
            <a:ext cx="438912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Tech</a:t>
            </a:r>
          </a:p>
        </p:txBody>
      </p:sp>
      <p:sp>
        <p:nvSpPr>
          <p:cNvPr id="17481" name="TextBox 17480">
            <a:hlinkClick action="ppaction://hlinksldjump" r:id="rId22"/>
          </p:cNvPr>
          <p:cNvSpPr txBox="1"/>
          <p:nvPr/>
        </p:nvSpPr>
        <p:spPr>
          <a:xfrm>
            <a:off x="1787652" y="6400800"/>
            <a:ext cx="982980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Feasibility</a:t>
            </a:r>
          </a:p>
        </p:txBody>
      </p:sp>
      <p:sp>
        <p:nvSpPr>
          <p:cNvPr id="17482" name="TextBox 17481">
            <a:hlinkClick action="ppaction://hlinksldjump" r:id="rId23"/>
          </p:cNvPr>
          <p:cNvSpPr txBox="1"/>
          <p:nvPr/>
        </p:nvSpPr>
        <p:spPr>
          <a:xfrm>
            <a:off x="2825496" y="6400800"/>
            <a:ext cx="594360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1" u="sng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7483" name="TextBox 17482">
            <a:hlinkClick action="ppaction://hlinksldjump" r:id="rId24"/>
          </p:cNvPr>
          <p:cNvSpPr txBox="1"/>
          <p:nvPr/>
        </p:nvSpPr>
        <p:spPr>
          <a:xfrm>
            <a:off x="3474720" y="6400800"/>
            <a:ext cx="749808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Research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SIH 2026 · PS 26080 · RegimeCast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0040" y="1179576"/>
            <a:ext cx="274320" cy="2743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1" name="Picture 17410" descr="fla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390" y="1239926"/>
            <a:ext cx="153619" cy="153619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58368" y="1170432"/>
            <a:ext cx="11183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5B3FA8"/>
                </a:solidFill>
                <a:latin typeface="Calibri"/>
              </a:rPr>
              <a:t>KEY FINDINGS — validated on 2016–17, confirmed on held-out data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36192"/>
            <a:ext cx="3767328" cy="1115568"/>
          </a:xfrm>
          <a:prstGeom prst="roundRect">
            <a:avLst>
              <a:gd name="adj" fmla="val 655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Oval 17413"/>
          <p:cNvSpPr/>
          <p:nvPr/>
        </p:nvSpPr>
        <p:spPr>
          <a:xfrm>
            <a:off x="411479" y="1627632"/>
            <a:ext cx="384048" cy="3840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5" name="Picture 17414" descr="sca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970" y="1712122"/>
            <a:ext cx="215066" cy="215066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868680" y="1609344"/>
            <a:ext cx="315468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Regime-awareness helps — modestly, provably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29768" y="2029968"/>
            <a:ext cx="3584448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Beats the regime-blind model on error in validation and on both held-out sets (test: +0.08 mm, 95% CI 0.03–0.14)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97096" y="1536192"/>
            <a:ext cx="3767328" cy="1115568"/>
          </a:xfrm>
          <a:prstGeom prst="roundRect">
            <a:avLst>
              <a:gd name="adj" fmla="val 655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4288536" y="1627632"/>
            <a:ext cx="384048" cy="384048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chi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3026" y="1712122"/>
            <a:ext cx="215066" cy="215066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4745736" y="1609344"/>
            <a:ext cx="315468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B3FA8"/>
                </a:solidFill>
                <a:latin typeface="Calibri"/>
              </a:rPr>
              <a:t>Deep learning wins on heavy rain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306824" y="2029968"/>
            <a:ext cx="3584448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U-Net heavy-rain ETS 0.155 vs 0.098 (test years) and 0.096 vs 0.070 (610 live forecasts); wetter on average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8074152" y="1536192"/>
            <a:ext cx="3767328" cy="1115568"/>
          </a:xfrm>
          <a:prstGeom prst="roundRect">
            <a:avLst>
              <a:gd name="adj" fmla="val 655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Oval 17423"/>
          <p:cNvSpPr/>
          <p:nvPr/>
        </p:nvSpPr>
        <p:spPr>
          <a:xfrm>
            <a:off x="8165592" y="1627632"/>
            <a:ext cx="384048" cy="384048"/>
          </a:xfrm>
          <a:prstGeom prst="ellips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5" name="Picture 17424" descr="warn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0082" y="1712122"/>
            <a:ext cx="215066" cy="215066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8622792" y="1609344"/>
            <a:ext cx="315468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D95926"/>
                </a:solidFill>
                <a:latin typeface="Calibri"/>
              </a:rPr>
              <a:t>Reported where it loses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8183879" y="2029968"/>
            <a:ext cx="3584448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In monsoon depressions raw GEFS places heavy rain best; tree correctors run ~1.2 mm dry on live forecasts</a:t>
            </a:r>
          </a:p>
        </p:txBody>
      </p:sp>
      <p:graphicFrame>
        <p:nvGraphicFramePr>
          <p:cNvPr id="17428" name="Table 17427"/>
          <p:cNvGraphicFramePr>
            <a:graphicFrameLocks noGrp="1"/>
          </p:cNvGraphicFramePr>
          <p:nvPr/>
        </p:nvGraphicFramePr>
        <p:xfrm>
          <a:off x="320040" y="2788920"/>
          <a:ext cx="1154887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4572000"/>
                <a:gridCol w="2148840"/>
                <a:gridCol w="868680"/>
                <a:gridCol w="3593592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Title of paper / dataset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Published in (click)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Active and break spells of the Indian summer monsoon — Rajeevan, Gadgil &amp; Bhate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u="sng">
                          <a:solidFill>
                            <a:srgbClr val="1F6FD1"/>
                          </a:solidFill>
                          <a:latin typeface="Calibri"/>
                          <a:hlinkClick r:id="rId8"/>
                        </a:rPr>
                        <a:t>J. Earth Syst. Sci.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2010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Criterion for active / break regime labels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0.25° gridded daily rainfall over India — Pai et al.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u="sng">
                          <a:solidFill>
                            <a:srgbClr val="1F6FD1"/>
                          </a:solidFill>
                          <a:latin typeface="Calibri"/>
                          <a:hlinkClick r:id="rId9"/>
                        </a:rPr>
                        <a:t>MAUSAM (IMD)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2014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Ground truth for training and verification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GEFSv12 reforecast and operational forecasts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u="sng">
                          <a:solidFill>
                            <a:srgbClr val="1F6FD1"/>
                          </a:solidFill>
                          <a:latin typeface="Calibri"/>
                          <a:hlinkClick r:id="rId10"/>
                        </a:rPr>
                        <a:t>NOAA Open Data on AWS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2000–25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Forecast input: 20 reforecast seasons + live runs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Scale-selective verification of rainfall (FSS) — Roberts &amp; Lean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u="sng">
                          <a:solidFill>
                            <a:srgbClr val="1F6FD1"/>
                          </a:solidFill>
                          <a:latin typeface="Calibri"/>
                          <a:hlinkClick r:id="rId11"/>
                        </a:rPr>
                        <a:t>Monthly Weather Review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Spatial skill of heavy-rain placement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LightGBM: a highly efficient gradient boosting decision tree — Ke et al.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u="sng">
                          <a:solidFill>
                            <a:srgbClr val="1F6FD1"/>
                          </a:solidFill>
                          <a:latin typeface="Calibri"/>
                          <a:hlinkClick r:id="rId12"/>
                        </a:rPr>
                        <a:t>NeurIPS · LightGBM docs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Regime classifier, correctors, heavy-rain model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U-Net: convolutional networks for image segmentation — Ronneberger et al.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u="sng">
                          <a:solidFill>
                            <a:srgbClr val="1F6FD1"/>
                          </a:solidFill>
                          <a:latin typeface="Calibri"/>
                          <a:hlinkClick r:id="rId13"/>
                        </a:rPr>
                        <a:t>MICCAI · arXiv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2015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Whole-map deep-learning corrector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Cyclone and monsoon-depression best track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u="sng">
                          <a:solidFill>
                            <a:srgbClr val="1F6FD1"/>
                          </a:solidFill>
                          <a:latin typeface="Calibri"/>
                          <a:hlinkClick r:id="rId14"/>
                        </a:rPr>
                        <a:t>IMD RSMC New Delhi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1982–2025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Monsoon-depression regime labels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India district boundaries (Census 2011, Survey of India index maps)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u="sng">
                          <a:solidFill>
                            <a:srgbClr val="1F6FD1"/>
                          </a:solidFill>
                          <a:latin typeface="Calibri"/>
                          <a:hlinkClick r:id="rId15"/>
                        </a:rPr>
                        <a:t>DataMeet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2011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641-district aggregation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</a:tbl>
          </a:graphicData>
        </a:graphic>
      </p:graphicFrame>
      <p:sp>
        <p:nvSpPr>
          <p:cNvPr id="17429" name="TextBox 17428">
            <a:hlinkClick action="ppaction://hlinksldjump" r:id="rId16"/>
          </p:cNvPr>
          <p:cNvSpPr txBox="1"/>
          <p:nvPr/>
        </p:nvSpPr>
        <p:spPr>
          <a:xfrm>
            <a:off x="228600" y="6400800"/>
            <a:ext cx="516636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Title</a:t>
            </a:r>
          </a:p>
        </p:txBody>
      </p:sp>
      <p:sp>
        <p:nvSpPr>
          <p:cNvPr id="17430" name="TextBox 17429">
            <a:hlinkClick action="ppaction://hlinksldjump" r:id="rId17"/>
          </p:cNvPr>
          <p:cNvSpPr txBox="1"/>
          <p:nvPr/>
        </p:nvSpPr>
        <p:spPr>
          <a:xfrm>
            <a:off x="800100" y="6400800"/>
            <a:ext cx="438912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Idea</a:t>
            </a:r>
          </a:p>
        </p:txBody>
      </p:sp>
      <p:sp>
        <p:nvSpPr>
          <p:cNvPr id="17431" name="TextBox 17430">
            <a:hlinkClick action="ppaction://hlinksldjump" r:id="rId18"/>
          </p:cNvPr>
          <p:cNvSpPr txBox="1"/>
          <p:nvPr/>
        </p:nvSpPr>
        <p:spPr>
          <a:xfrm>
            <a:off x="1293876" y="6400800"/>
            <a:ext cx="438912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Tech</a:t>
            </a:r>
          </a:p>
        </p:txBody>
      </p:sp>
      <p:sp>
        <p:nvSpPr>
          <p:cNvPr id="17432" name="TextBox 17431">
            <a:hlinkClick action="ppaction://hlinksldjump" r:id="rId19"/>
          </p:cNvPr>
          <p:cNvSpPr txBox="1"/>
          <p:nvPr/>
        </p:nvSpPr>
        <p:spPr>
          <a:xfrm>
            <a:off x="1787652" y="6400800"/>
            <a:ext cx="982980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Feasibility</a:t>
            </a:r>
          </a:p>
        </p:txBody>
      </p:sp>
      <p:sp>
        <p:nvSpPr>
          <p:cNvPr id="17433" name="TextBox 17432">
            <a:hlinkClick action="ppaction://hlinksldjump" r:id="rId20"/>
          </p:cNvPr>
          <p:cNvSpPr txBox="1"/>
          <p:nvPr/>
        </p:nvSpPr>
        <p:spPr>
          <a:xfrm>
            <a:off x="2825496" y="6400800"/>
            <a:ext cx="594360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0" u="none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7434" name="TextBox 17433">
            <a:hlinkClick action="ppaction://hlinksldjump" r:id="rId21"/>
          </p:cNvPr>
          <p:cNvSpPr txBox="1"/>
          <p:nvPr/>
        </p:nvSpPr>
        <p:spPr>
          <a:xfrm>
            <a:off x="3474720" y="6400800"/>
            <a:ext cx="749808" cy="38404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50" b="1" u="sng">
                <a:solidFill>
                  <a:srgbClr val="FFFFFF"/>
                </a:solidFill>
                <a:latin typeface="Calibri"/>
              </a:rPr>
              <a:t>Research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